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1" r:id="rId4"/>
  </p:sldMasterIdLst>
  <p:notesMasterIdLst>
    <p:notesMasterId r:id="rId7"/>
  </p:notesMasterIdLst>
  <p:handoutMasterIdLst>
    <p:handoutMasterId r:id="rId27"/>
  </p:handoutMasterIdLst>
  <p:sldIdLst>
    <p:sldId id="16603138" r:id="rId5"/>
    <p:sldId id="16769356" r:id="rId6"/>
    <p:sldId id="16769361" r:id="rId8"/>
    <p:sldId id="16769389" r:id="rId9"/>
    <p:sldId id="16769390" r:id="rId10"/>
    <p:sldId id="16769392" r:id="rId11"/>
    <p:sldId id="16769477" r:id="rId12"/>
    <p:sldId id="16769393" r:id="rId13"/>
    <p:sldId id="16769479" r:id="rId14"/>
    <p:sldId id="16769458" r:id="rId15"/>
    <p:sldId id="16769462" r:id="rId16"/>
    <p:sldId id="16769419" r:id="rId17"/>
    <p:sldId id="16769467" r:id="rId18"/>
    <p:sldId id="16769424" r:id="rId19"/>
    <p:sldId id="16769425" r:id="rId20"/>
    <p:sldId id="16769431" r:id="rId21"/>
    <p:sldId id="16769432" r:id="rId22"/>
    <p:sldId id="16769434" r:id="rId23"/>
    <p:sldId id="16769435" r:id="rId24"/>
    <p:sldId id="16769487" r:id="rId25"/>
    <p:sldId id="16769381" r:id="rId26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6559EA65-DD6D-4AF4-A565-8BC799778770}">
          <p14:sldIdLst>
            <p14:sldId id="16603138"/>
            <p14:sldId id="16769356"/>
            <p14:sldId id="16769361"/>
            <p14:sldId id="16769389"/>
            <p14:sldId id="16769390"/>
            <p14:sldId id="16769392"/>
            <p14:sldId id="16769477"/>
            <p14:sldId id="16769393"/>
            <p14:sldId id="16769479"/>
            <p14:sldId id="16769458"/>
            <p14:sldId id="16769462"/>
            <p14:sldId id="16769419"/>
            <p14:sldId id="16769467"/>
            <p14:sldId id="16769424"/>
            <p14:sldId id="16769425"/>
            <p14:sldId id="16769431"/>
            <p14:sldId id="16769432"/>
            <p14:sldId id="16769434"/>
            <p14:sldId id="16769435"/>
            <p14:sldId id="16769487"/>
            <p14:sldId id="16769381"/>
          </p14:sldIdLst>
        </p14:section>
        <p14:section name="内页" id="{F4712FA0-E735-485D-89EB-7EC98C78618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666" userDrawn="1">
          <p15:clr>
            <a:srgbClr val="A4A3A4"/>
          </p15:clr>
        </p15:guide>
        <p15:guide id="3" pos="710" userDrawn="1">
          <p15:clr>
            <a:srgbClr val="A4A3A4"/>
          </p15:clr>
        </p15:guide>
        <p15:guide id="4" pos="5085" userDrawn="1">
          <p15:clr>
            <a:srgbClr val="A4A3A4"/>
          </p15:clr>
        </p15:guide>
        <p15:guide id="5" pos="4058" userDrawn="1">
          <p15:clr>
            <a:srgbClr val="A4A3A4"/>
          </p15:clr>
        </p15:guide>
        <p15:guide id="6" pos="66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  <p:cmAuthor id="2" name="A" initials="A" lastIdx="0" clrIdx="1"/>
  <p:cmAuthor id="3" name="WPS" initials="W" lastIdx="0" clrIdx="2"/>
  <p:cmAuthor id="4" name="dgs" initials="{&quot;applyName&quot;:&quot;谢志锋&quot;,&quot;approverName&quot;:&quot;林军昌;赵路军;&quot;,&quot;creatorTime&quot;:&quot;2021-04-29 16:23:56.0&quot;}" lastIdx="0" clrIdx="3"/>
  <p:cmAuthor id="5" name="huhn" initials="h" lastIdx="0" clrIdx="4"/>
  <p:cmAuthor id="6" name="Administrator" initials="A" lastIdx="0" clrIdx="5"/>
  <p:cmAuthor id="7" name="作者" initials="A" lastIdx="0" clrIdx="6"/>
  <p:cmAuthor id="8" name="方超" initials="方超" lastIdx="0" clrIdx="7"/>
  <p:cmAuthor id="9" name="Lisa Lind" initials="LL" lastIdx="0" clrIdx="8"/>
  <p:cmAuthor id="10" name="珍珠奶茶" initials="珍" lastIdx="0" clrIdx="9"/>
  <p:cmAuthor id="11" name="Katharina Moritz" initials="KM" lastIdx="0" clrIdx="10"/>
  <p:cmAuthor id="12" name="Jing Zhang （张婧）" initials="JZ（" lastIdx="0" clrIdx="11"/>
  <p:cmAuthor id="13" name="Julia Huhn" initials="JH" lastIdx="0" clrIdx="12"/>
  <p:cmAuthor id="14" name="SteveN" initials="S" lastIdx="0" clrIdx="13"/>
  <p:cmAuthor id="15" name="彭玉凤" initials="彭玉凤" lastIdx="0" clrIdx="14"/>
  <p:cmAuthor id="16" name="kechuying" initials="k" lastIdx="0" clrIdx="15"/>
  <p:cmAuthor id="17" name="admin" initials="a" lastIdx="0" clrIdx="16"/>
  <p:cmAuthor id="18" name="翟宏帅" initials="翟" lastIdx="0" clrIdx="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A1F68"/>
    <a:srgbClr val="FCFCFF"/>
    <a:srgbClr val="061A64"/>
    <a:srgbClr val="E1E3E5"/>
    <a:srgbClr val="ECF5FE"/>
    <a:srgbClr val="DA2128"/>
    <a:srgbClr val="1DB24A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ADECD50-69A9-4004-97C0-7A6AEA151B63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2">
              <a:alpha val="25000"/>
              <a:lumMod val="40000"/>
              <a:lumOff val="6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186C6ED-45D3-464C-9B91-01AB4A93FB67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2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45" y="48"/>
      </p:cViewPr>
      <p:guideLst>
        <p:guide orient="horz" pos="2188"/>
        <p:guide pos="3666"/>
        <p:guide pos="710"/>
        <p:guide pos="5085"/>
        <p:guide pos="4058"/>
        <p:guide pos="66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164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: 圆角 66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6000"/>
                  <a:lumOff val="9400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101B-38DC-465D-8280-A50AEB4568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55CE-12C1-430C-9E66-4EE602C9D7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310F67-325C-4E9D-8D5E-C36E95D511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D67313-50BC-4C8D-AB9A-90A5A5456A2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719665" y="313688"/>
            <a:ext cx="10669059" cy="7150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281969" y="507813"/>
            <a:ext cx="2985280" cy="338682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483870" rtl="0" eaLnBrk="1" latinLnBrk="0" hangingPunct="1"/>
            <a:r>
              <a:rPr lang="zh-CN" alt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正文</a:t>
            </a:r>
            <a:r>
              <a:rPr lang="en-US" altLang="zh-CN" sz="1600" kern="1200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. </a:t>
            </a:r>
            <a:r>
              <a:rPr lang="zh-CN" altLang="en-US" sz="1600" kern="1200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第二章</a:t>
            </a:r>
            <a:endParaRPr lang="zh-CN" altLang="en-US" sz="1600" kern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16" name="TextBox 10"/>
          <p:cNvSpPr>
            <a:spLocks noChangeArrowheads="1"/>
          </p:cNvSpPr>
          <p:nvPr userDrawn="1"/>
        </p:nvSpPr>
        <p:spPr bwMode="auto">
          <a:xfrm>
            <a:off x="910032" y="2081034"/>
            <a:ext cx="648850" cy="2932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143988" rIns="71994" anchor="ctr">
            <a:spAutoFit/>
          </a:bodyPr>
          <a:lstStyle/>
          <a:p>
            <a:pPr algn="l"/>
            <a:r>
              <a:rPr lang="zh-CN" altLang="en-US" sz="2800" b="1" spc="127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会议为什么低效</a:t>
            </a:r>
            <a:endParaRPr lang="zh-CN" altLang="en-US" sz="2800" b="1" spc="127" baseline="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685057" y="1082324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5400" dirty="0">
                <a:solidFill>
                  <a:schemeClr val="bg1"/>
                </a:solidFill>
              </a:rPr>
              <a:t>02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1631042" y="6165137"/>
            <a:ext cx="792249" cy="360031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rgbClr val="36B2E6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4E12-1D60-4A55-AB4B-62571717B7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842F-C7DD-43D5-A0A3-915CEF8B6FF0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78543" y="451485"/>
            <a:ext cx="9525907" cy="57915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: 圆角 66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6000"/>
                  <a:lumOff val="9400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101B-38DC-465D-8280-A50AEB4568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55CE-12C1-430C-9E66-4EE602C9D7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4E12-1D60-4A55-AB4B-62571717B7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842F-C7DD-43D5-A0A3-915CEF8B6FF0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78543" y="451485"/>
            <a:ext cx="9525907" cy="57915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310F67-325C-4E9D-8D5E-C36E95D511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D67313-50BC-4C8D-AB9A-90A5A5456A2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719665" y="313688"/>
            <a:ext cx="10669059" cy="7150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281969" y="507813"/>
            <a:ext cx="2985280" cy="338682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483870" rtl="0" eaLnBrk="1" latinLnBrk="0" hangingPunct="1"/>
            <a:r>
              <a:rPr lang="zh-CN" altLang="en-US" sz="1600" kern="120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正文</a:t>
            </a:r>
            <a:r>
              <a:rPr lang="en-US" altLang="zh-CN" sz="1600" kern="1200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 . </a:t>
            </a:r>
            <a:r>
              <a:rPr lang="zh-CN" altLang="en-US" sz="1600" kern="1200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第二章</a:t>
            </a:r>
            <a:endParaRPr lang="zh-CN" altLang="en-US" sz="1600" kern="1200" dirty="0">
              <a:solidFill>
                <a:schemeClr val="bg1"/>
              </a:solidFill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16" name="TextBox 10"/>
          <p:cNvSpPr>
            <a:spLocks noChangeArrowheads="1"/>
          </p:cNvSpPr>
          <p:nvPr userDrawn="1"/>
        </p:nvSpPr>
        <p:spPr bwMode="auto">
          <a:xfrm>
            <a:off x="910032" y="2081034"/>
            <a:ext cx="648850" cy="2932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143988" rIns="71994" anchor="ctr">
            <a:spAutoFit/>
          </a:bodyPr>
          <a:lstStyle/>
          <a:p>
            <a:pPr algn="l"/>
            <a:r>
              <a:rPr lang="zh-CN" altLang="en-US" sz="2800" b="1" spc="127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</a:rPr>
              <a:t>会议为什么低效</a:t>
            </a:r>
            <a:endParaRPr lang="zh-CN" altLang="en-US" sz="2800" b="1" spc="127" baseline="0" dirty="0">
              <a:solidFill>
                <a:schemeClr val="bg1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685057" y="1082324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5400" dirty="0">
                <a:solidFill>
                  <a:schemeClr val="bg1"/>
                </a:solidFill>
              </a:rPr>
              <a:t>02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1631042" y="6165137"/>
            <a:ext cx="792249" cy="360031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rgbClr val="36B2E6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: 圆角 66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6000"/>
                  <a:lumOff val="9400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101B-38DC-465D-8280-A50AEB4568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55CE-12C1-430C-9E66-4EE602C9D7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ADB4-A6E2-46F3-B2E8-27C38388E7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4C2F1-DB0C-473C-B2F8-DC97A87A6A9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59140" y="465401"/>
            <a:ext cx="10766098" cy="58790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4E12-1D60-4A55-AB4B-62571717B7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842F-C7DD-43D5-A0A3-915CEF8B6FF0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78543" y="451485"/>
            <a:ext cx="9525907" cy="57915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281969" y="507813"/>
            <a:ext cx="2985280" cy="338682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483870" rtl="0" eaLnBrk="1" latinLnBrk="0" hangingPunct="1"/>
            <a:r>
              <a:rPr lang="zh-CN" altLang="en-US" sz="1600" kern="120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正文</a:t>
            </a:r>
            <a:r>
              <a:rPr lang="en-US" altLang="zh-CN" sz="1600" kern="1200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 . </a:t>
            </a:r>
            <a:r>
              <a:rPr lang="zh-CN" altLang="en-US" sz="1600" kern="1200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第二章</a:t>
            </a:r>
            <a:endParaRPr lang="zh-CN" altLang="en-US" sz="1600" kern="1200" dirty="0">
              <a:solidFill>
                <a:schemeClr val="bg1"/>
              </a:solidFill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16" name="TextBox 10"/>
          <p:cNvSpPr>
            <a:spLocks noChangeArrowheads="1"/>
          </p:cNvSpPr>
          <p:nvPr userDrawn="1"/>
        </p:nvSpPr>
        <p:spPr bwMode="auto">
          <a:xfrm>
            <a:off x="910032" y="2081034"/>
            <a:ext cx="648850" cy="2932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143988" rIns="71994" anchor="ctr">
            <a:spAutoFit/>
          </a:bodyPr>
          <a:lstStyle/>
          <a:p>
            <a:pPr algn="l"/>
            <a:r>
              <a:rPr lang="zh-CN" altLang="en-US" sz="2800" b="1" spc="127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</a:rPr>
              <a:t>会议为什么低效</a:t>
            </a:r>
            <a:endParaRPr lang="zh-CN" altLang="en-US" sz="2800" b="1" spc="127" baseline="0" dirty="0">
              <a:solidFill>
                <a:schemeClr val="bg1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685057" y="1082324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5400" dirty="0">
                <a:solidFill>
                  <a:schemeClr val="bg1"/>
                </a:solidFill>
              </a:rPr>
              <a:t>02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1631042" y="6165137"/>
            <a:ext cx="792249" cy="360031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rgbClr val="36B2E6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Copy with Sid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 userDrawn="1"/>
        </p:nvPicPr>
        <p:blipFill rotWithShape="1">
          <a:blip r:embed="rId2" cstate="print"/>
          <a:srcRect r="97552"/>
          <a:stretch>
            <a:fillRect/>
          </a:stretch>
        </p:blipFill>
        <p:spPr>
          <a:xfrm>
            <a:off x="0" y="0"/>
            <a:ext cx="298449" cy="6858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790" spc="225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050" spc="225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10" name="Content Placeholder 8"/>
          <p:cNvSpPr>
            <a:spLocks noGrp="1"/>
          </p:cNvSpPr>
          <p:nvPr>
            <p:ph idx="1" hasCustomPrompt="1"/>
          </p:nvPr>
        </p:nvSpPr>
        <p:spPr>
          <a:xfrm>
            <a:off x="609600" y="1581150"/>
            <a:ext cx="11201400" cy="3600450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JLR Emeric ExtraLight" panose="02000503040000020004" pitchFamily="2" charset="0"/>
              </a:defRPr>
            </a:lvl1pPr>
            <a:lvl2pPr marL="471805" indent="-128905">
              <a:buFont typeface="Arial" panose="020B0604020202020204" pitchFamily="34" charset="0"/>
              <a:buChar char="•"/>
              <a:defRPr sz="900">
                <a:latin typeface="JLR Emeric ExtraLight" panose="02000503040000020004" pitchFamily="2" charset="0"/>
              </a:defRPr>
            </a:lvl2pPr>
            <a:lvl3pPr marL="814705" indent="-128905">
              <a:buFont typeface="Arial" panose="020B0604020202020204" pitchFamily="34" charset="0"/>
              <a:buChar char="•"/>
              <a:defRPr sz="9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  <a:endParaRPr lang="en-GB"/>
          </a:p>
          <a:p>
            <a:endParaRPr lang="en-GB"/>
          </a:p>
          <a:p>
            <a:r>
              <a:rPr lang="en-GB"/>
              <a:t>Subheading (embolden first level of text)</a:t>
            </a:r>
            <a:endParaRPr lang="en-GB"/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  <a:endParaRPr lang="en-GB"/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second level of text.</a:t>
            </a:r>
            <a:endParaRPr lang="en-GB"/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ExtraLight12pt Regular. This is third level of text</a:t>
            </a:r>
            <a:endParaRPr lang="en-GB"/>
          </a:p>
          <a:p>
            <a:pPr lvl="2"/>
            <a:endParaRPr lang="en-GB"/>
          </a:p>
          <a:p>
            <a:endParaRPr lang="en-GB"/>
          </a:p>
        </p:txBody>
      </p:sp>
      <p:sp>
        <p:nvSpPr>
          <p:cNvPr id="3" name="object 9"/>
          <p:cNvSpPr/>
          <p:nvPr userDrawn="1"/>
        </p:nvSpPr>
        <p:spPr>
          <a:xfrm>
            <a:off x="2143377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10"/>
          <p:cNvSpPr/>
          <p:nvPr userDrawn="1"/>
        </p:nvSpPr>
        <p:spPr>
          <a:xfrm>
            <a:off x="2890724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11"/>
          <p:cNvSpPr/>
          <p:nvPr userDrawn="1"/>
        </p:nvSpPr>
        <p:spPr>
          <a:xfrm>
            <a:off x="3976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2"/>
          <p:cNvSpPr txBox="1"/>
          <p:nvPr userDrawn="1"/>
        </p:nvSpPr>
        <p:spPr>
          <a:xfrm>
            <a:off x="698500" y="6579658"/>
            <a:ext cx="1327801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marR="0" lvl="0" indent="0" defTabSz="685800" eaLnBrk="1" fontAlgn="auto" latinLnBrk="0" hangingPunct="1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CUSTOMER LOVE</a:t>
            </a:r>
            <a:endParaRPr lang="en-GB"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2" name="object 14"/>
          <p:cNvSpPr txBox="1"/>
          <p:nvPr userDrawn="1"/>
        </p:nvSpPr>
        <p:spPr>
          <a:xfrm>
            <a:off x="2260455" y="6579658"/>
            <a:ext cx="513193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80"/>
              </a:spcBef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UNITY</a:t>
            </a:r>
            <a:endParaRPr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3" name="object 15"/>
          <p:cNvSpPr txBox="1"/>
          <p:nvPr userDrawn="1"/>
        </p:nvSpPr>
        <p:spPr>
          <a:xfrm>
            <a:off x="3007801" y="6579658"/>
            <a:ext cx="851151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80"/>
              </a:spcBef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INTEGRITY</a:t>
            </a:r>
            <a:endParaRPr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4" name="object 16"/>
          <p:cNvSpPr txBox="1"/>
          <p:nvPr userDrawn="1"/>
        </p:nvSpPr>
        <p:spPr>
          <a:xfrm>
            <a:off x="4093105" y="6579658"/>
            <a:ext cx="684847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80"/>
              </a:spcBef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GROWTH</a:t>
            </a:r>
            <a:endParaRPr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5" name="object 11"/>
          <p:cNvSpPr/>
          <p:nvPr userDrawn="1"/>
        </p:nvSpPr>
        <p:spPr>
          <a:xfrm>
            <a:off x="4895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 txBox="1"/>
          <p:nvPr userDrawn="1"/>
        </p:nvSpPr>
        <p:spPr>
          <a:xfrm>
            <a:off x="5012103" y="6579658"/>
            <a:ext cx="626695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80"/>
              </a:spcBef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IMPACT</a:t>
            </a:r>
            <a:endParaRPr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7" name="Slide Number Placeholder 1"/>
          <p:cNvSpPr txBox="1"/>
          <p:nvPr userDrawn="1"/>
        </p:nvSpPr>
        <p:spPr>
          <a:xfrm>
            <a:off x="11403923" y="6567047"/>
            <a:ext cx="397599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28575" algn="r">
              <a:spcBef>
                <a:spcPts val="80"/>
              </a:spcBef>
            </a:pPr>
            <a:fld id="{81D60167-4931-47E6-BA6A-407CBD079E47}" type="slidenum">
              <a:rPr lang="en-GB" sz="525" spc="-19" smtClean="0">
                <a:solidFill>
                  <a:schemeClr val="tx1"/>
                </a:solidFill>
                <a:latin typeface="JLR Emeric ExtraLight" panose="02000503040000020004" pitchFamily="2" charset="0"/>
              </a:rPr>
            </a:fld>
            <a:r>
              <a:rPr lang="en-GB" sz="525" spc="375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  <a:endParaRPr lang="en-GB" sz="525" spc="375">
              <a:solidFill>
                <a:schemeClr val="bg1"/>
              </a:solidFill>
              <a:latin typeface="JLR Emeric ExtraLight" panose="02000503040000020004" pitchFamily="2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.jpe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.xml"/><Relationship Id="rId8" Type="http://schemas.openxmlformats.org/officeDocument/2006/relationships/slideLayout" Target="../slideLayouts/slideLayout49.xml"/><Relationship Id="rId7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4.xml"/><Relationship Id="rId29" Type="http://schemas.openxmlformats.org/officeDocument/2006/relationships/theme" Target="../theme/theme3.xml"/><Relationship Id="rId28" Type="http://schemas.openxmlformats.org/officeDocument/2006/relationships/image" Target="../media/image1.jpeg"/><Relationship Id="rId27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3" name="图片 52" descr="雪地上的风景&#10;&#10;中度可信度描述已自动生成"/>
          <p:cNvPicPr>
            <a:picLocks noChangeAspect="1"/>
          </p:cNvPicPr>
          <p:nvPr userDrawn="1"/>
        </p:nvPicPr>
        <p:blipFill rotWithShape="1">
          <a:blip r:embed="rId21" cstate="screen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3" name="图片 52" descr="雪地上的风景&#10;&#10;中度可信度描述已自动生成"/>
          <p:cNvPicPr>
            <a:picLocks noChangeAspect="1"/>
          </p:cNvPicPr>
          <p:nvPr userDrawn="1"/>
        </p:nvPicPr>
        <p:blipFill rotWithShape="1">
          <a:blip r:embed="rId22" cstate="screen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3" name="图片 52" descr="雪地上的风景&#10;&#10;中度可信度描述已自动生成"/>
          <p:cNvPicPr>
            <a:picLocks noChangeAspect="1"/>
          </p:cNvPicPr>
          <p:nvPr userDrawn="1"/>
        </p:nvPicPr>
        <p:blipFill rotWithShape="1">
          <a:blip r:embed="rId28" cstate="screen">
            <a:alphaModFix amt="19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3.xml"/><Relationship Id="rId6" Type="http://schemas.openxmlformats.org/officeDocument/2006/relationships/tags" Target="../tags/tag1.xml"/><Relationship Id="rId5" Type="http://schemas.openxmlformats.org/officeDocument/2006/relationships/image" Target="../media/image9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microsoft.com/office/2007/relationships/hdphoto" Target="../media/image11.wdp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2" Type="http://schemas.openxmlformats.org/officeDocument/2006/relationships/slideLayout" Target="../slideLayouts/slideLayout59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9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9.xml"/><Relationship Id="rId3" Type="http://schemas.openxmlformats.org/officeDocument/2006/relationships/image" Target="../media/image12.emf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9.xml"/><Relationship Id="rId3" Type="http://schemas.openxmlformats.org/officeDocument/2006/relationships/image" Target="../media/image13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image" Target="../media/image15.png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image" Target="../media/image14.png"/><Relationship Id="rId2" Type="http://schemas.openxmlformats.org/officeDocument/2006/relationships/tags" Target="../tags/tag40.xml"/><Relationship Id="rId11" Type="http://schemas.openxmlformats.org/officeDocument/2006/relationships/slideLayout" Target="../slideLayouts/slideLayout59.xml"/><Relationship Id="rId10" Type="http://schemas.openxmlformats.org/officeDocument/2006/relationships/image" Target="../media/image16.png"/><Relationship Id="rId1" Type="http://schemas.openxmlformats.org/officeDocument/2006/relationships/tags" Target="../tags/tag3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microsoft.com/office/2007/relationships/hdphoto" Target="../media/image11.wdp"/><Relationship Id="rId2" Type="http://schemas.openxmlformats.org/officeDocument/2006/relationships/image" Target="../media/image10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48.xml"/><Relationship Id="rId10" Type="http://schemas.openxmlformats.org/officeDocument/2006/relationships/tags" Target="../tags/tag53.xml"/><Relationship Id="rId1" Type="http://schemas.openxmlformats.org/officeDocument/2006/relationships/tags" Target="../tags/tag4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0" Type="http://schemas.openxmlformats.org/officeDocument/2006/relationships/slideLayout" Target="../slideLayouts/slideLayout48.xml"/><Relationship Id="rId1" Type="http://schemas.openxmlformats.org/officeDocument/2006/relationships/tags" Target="../tags/tag5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8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6" Type="http://schemas.openxmlformats.org/officeDocument/2006/relationships/slideLayout" Target="../slideLayouts/slideLayout48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image" Target="../media/image23.jpeg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microsoft.com/office/2007/relationships/hdphoto" Target="../media/image11.wdp"/><Relationship Id="rId2" Type="http://schemas.openxmlformats.org/officeDocument/2006/relationships/image" Target="../media/image10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48.xml"/><Relationship Id="rId10" Type="http://schemas.openxmlformats.org/officeDocument/2006/relationships/tags" Target="../tags/tag83.xml"/><Relationship Id="rId1" Type="http://schemas.openxmlformats.org/officeDocument/2006/relationships/tags" Target="../tags/tag76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8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microsoft.com/office/2007/relationships/hdphoto" Target="../media/image11.wdp"/><Relationship Id="rId2" Type="http://schemas.openxmlformats.org/officeDocument/2006/relationships/image" Target="../media/image10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48.xml"/><Relationship Id="rId10" Type="http://schemas.openxmlformats.org/officeDocument/2006/relationships/tags" Target="../tags/tag96.xml"/><Relationship Id="rId1" Type="http://schemas.openxmlformats.org/officeDocument/2006/relationships/tags" Target="../tags/tag8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98.xml"/><Relationship Id="rId10" Type="http://schemas.openxmlformats.org/officeDocument/2006/relationships/slideLayout" Target="../slideLayouts/slideLayout59.xml"/><Relationship Id="rId1" Type="http://schemas.openxmlformats.org/officeDocument/2006/relationships/tags" Target="../tags/tag9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microsoft.com/office/2007/relationships/hdphoto" Target="../media/image11.wdp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9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tags" Target="../tags/tag109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8" Type="http://schemas.openxmlformats.org/officeDocument/2006/relationships/slideLayout" Target="../slideLayouts/slideLayout59.xml"/><Relationship Id="rId37" Type="http://schemas.openxmlformats.org/officeDocument/2006/relationships/tags" Target="../tags/tag128.xml"/><Relationship Id="rId36" Type="http://schemas.openxmlformats.org/officeDocument/2006/relationships/image" Target="../media/image44.svg"/><Relationship Id="rId35" Type="http://schemas.openxmlformats.org/officeDocument/2006/relationships/image" Target="../media/image43.png"/><Relationship Id="rId34" Type="http://schemas.openxmlformats.org/officeDocument/2006/relationships/tags" Target="../tags/tag127.xml"/><Relationship Id="rId33" Type="http://schemas.openxmlformats.org/officeDocument/2006/relationships/tags" Target="../tags/tag126.xml"/><Relationship Id="rId32" Type="http://schemas.openxmlformats.org/officeDocument/2006/relationships/tags" Target="../tags/tag125.xml"/><Relationship Id="rId31" Type="http://schemas.openxmlformats.org/officeDocument/2006/relationships/tags" Target="../tags/tag124.xml"/><Relationship Id="rId30" Type="http://schemas.openxmlformats.org/officeDocument/2006/relationships/tags" Target="../tags/tag123.xml"/><Relationship Id="rId3" Type="http://schemas.openxmlformats.org/officeDocument/2006/relationships/tags" Target="../tags/tag108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image" Target="../media/image42.svg"/><Relationship Id="rId21" Type="http://schemas.openxmlformats.org/officeDocument/2006/relationships/image" Target="../media/image41.png"/><Relationship Id="rId20" Type="http://schemas.openxmlformats.org/officeDocument/2006/relationships/tags" Target="../tags/tag115.xml"/><Relationship Id="rId2" Type="http://schemas.openxmlformats.org/officeDocument/2006/relationships/tags" Target="../tags/tag107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image" Target="../media/image40.svg"/><Relationship Id="rId16" Type="http://schemas.openxmlformats.org/officeDocument/2006/relationships/image" Target="../media/image39.png"/><Relationship Id="rId15" Type="http://schemas.openxmlformats.org/officeDocument/2006/relationships/tags" Target="../tags/tag112.xml"/><Relationship Id="rId14" Type="http://schemas.openxmlformats.org/officeDocument/2006/relationships/image" Target="../media/image38.svg"/><Relationship Id="rId13" Type="http://schemas.openxmlformats.org/officeDocument/2006/relationships/image" Target="../media/image37.png"/><Relationship Id="rId12" Type="http://schemas.openxmlformats.org/officeDocument/2006/relationships/tags" Target="../tags/tag111.xml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tags" Target="../tags/tag10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image" Target="../media/image48.png"/><Relationship Id="rId7" Type="http://schemas.openxmlformats.org/officeDocument/2006/relationships/image" Target="../media/image22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1" Type="http://schemas.openxmlformats.org/officeDocument/2006/relationships/slideLayout" Target="../slideLayouts/slideLayout59.xml"/><Relationship Id="rId10" Type="http://schemas.openxmlformats.org/officeDocument/2006/relationships/image" Target="../media/image49.jpeg"/><Relationship Id="rId1" Type="http://schemas.openxmlformats.org/officeDocument/2006/relationships/tags" Target="../tags/tag12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microsoft.com/office/2007/relationships/hdphoto" Target="../media/image11.wdp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3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9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9" Type="http://schemas.openxmlformats.org/officeDocument/2006/relationships/slideLayout" Target="../slideLayouts/slideLayout32.xml"/><Relationship Id="rId28" Type="http://schemas.openxmlformats.org/officeDocument/2006/relationships/tags" Target="../tags/tag163.xml"/><Relationship Id="rId27" Type="http://schemas.openxmlformats.org/officeDocument/2006/relationships/image" Target="../media/image9.png"/><Relationship Id="rId26" Type="http://schemas.openxmlformats.org/officeDocument/2006/relationships/image" Target="../media/image51.svg"/><Relationship Id="rId25" Type="http://schemas.openxmlformats.org/officeDocument/2006/relationships/image" Target="../media/image50.png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4.xml"/><Relationship Id="rId19" Type="http://schemas.openxmlformats.org/officeDocument/2006/relationships/tags" Target="../tags/tag157.xml"/><Relationship Id="rId18" Type="http://schemas.microsoft.com/office/2007/relationships/hdphoto" Target="../media/image8.wdp"/><Relationship Id="rId17" Type="http://schemas.openxmlformats.org/officeDocument/2006/relationships/image" Target="../media/image7.png"/><Relationship Id="rId16" Type="http://schemas.openxmlformats.org/officeDocument/2006/relationships/tags" Target="../tags/tag156.xml"/><Relationship Id="rId15" Type="http://schemas.microsoft.com/office/2007/relationships/hdphoto" Target="../media/image6.wdp"/><Relationship Id="rId14" Type="http://schemas.openxmlformats.org/officeDocument/2006/relationships/image" Target="../media/image5.png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tags" Target="../tags/tag1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30821" y="-23314"/>
            <a:ext cx="12231673" cy="6881586"/>
          </a:xfrm>
          <a:prstGeom prst="rect">
            <a:avLst/>
          </a:prstGeom>
          <a:gradFill>
            <a:gsLst>
              <a:gs pos="100000">
                <a:srgbClr val="061A64"/>
              </a:gs>
              <a:gs pos="0">
                <a:srgbClr val="061A6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3569" y="-252713"/>
            <a:ext cx="3092998" cy="3920755"/>
            <a:chOff x="-10047009" y="6683958"/>
            <a:chExt cx="3449347" cy="4372472"/>
          </a:xfrm>
        </p:grpSpPr>
        <p:sp>
          <p:nvSpPr>
            <p:cNvPr id="4" name="矩形: 圆角 3"/>
            <p:cNvSpPr/>
            <p:nvPr/>
          </p:nvSpPr>
          <p:spPr>
            <a:xfrm>
              <a:off x="-9195285" y="6683958"/>
              <a:ext cx="1747321" cy="1747321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-9526285" y="9753107"/>
              <a:ext cx="1303323" cy="1303323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-7491331" y="8344206"/>
              <a:ext cx="893669" cy="893669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-8435401" y="9237875"/>
              <a:ext cx="987437" cy="987437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-10047009" y="8811491"/>
              <a:ext cx="1303323" cy="1303323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-9453073" y="8146920"/>
              <a:ext cx="433608" cy="433608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25" name="矩形: 圆角 24"/>
          <p:cNvSpPr/>
          <p:nvPr/>
        </p:nvSpPr>
        <p:spPr>
          <a:xfrm>
            <a:off x="10210505" y="4622687"/>
            <a:ext cx="619057" cy="619057"/>
          </a:xfrm>
          <a:prstGeom prst="roundRect">
            <a:avLst>
              <a:gd name="adj" fmla="val 6636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630329" y="5023721"/>
            <a:ext cx="398466" cy="398466"/>
          </a:xfrm>
          <a:prstGeom prst="roundRect">
            <a:avLst>
              <a:gd name="adj" fmla="val 6636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0399847" y="3984681"/>
            <a:ext cx="1437506" cy="1437506"/>
          </a:xfrm>
          <a:prstGeom prst="roundRect">
            <a:avLst>
              <a:gd name="adj" fmla="val 6636"/>
            </a:avLst>
          </a:prstGeom>
          <a:solidFill>
            <a:schemeClr val="bg1">
              <a:alpha val="8000"/>
            </a:schemeClr>
          </a:solidFill>
          <a:ln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31115" y="4853043"/>
            <a:ext cx="7431314" cy="2001783"/>
          </a:xfrm>
          <a:custGeom>
            <a:avLst/>
            <a:gdLst>
              <a:gd name="connsiteX0" fmla="*/ 0 w 6796088"/>
              <a:gd name="connsiteY0" fmla="*/ 0 h 2001783"/>
              <a:gd name="connsiteX1" fmla="*/ 6796088 w 6796088"/>
              <a:gd name="connsiteY1" fmla="*/ 0 h 2001783"/>
              <a:gd name="connsiteX2" fmla="*/ 6796088 w 6796088"/>
              <a:gd name="connsiteY2" fmla="*/ 2001783 h 2001783"/>
              <a:gd name="connsiteX3" fmla="*/ 0 w 6796088"/>
              <a:gd name="connsiteY3" fmla="*/ 2001783 h 200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6088" h="2001783">
                <a:moveTo>
                  <a:pt x="0" y="0"/>
                </a:moveTo>
                <a:lnTo>
                  <a:pt x="6796088" y="0"/>
                </a:lnTo>
                <a:lnTo>
                  <a:pt x="6796088" y="2001783"/>
                </a:lnTo>
                <a:lnTo>
                  <a:pt x="0" y="2001783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38689">
            <a:off x="6862656" y="2011494"/>
            <a:ext cx="6204422" cy="5910376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80720" y="1654588"/>
            <a:ext cx="8607550" cy="3118079"/>
            <a:chOff x="680720" y="1578388"/>
            <a:chExt cx="8607550" cy="3118079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801625" y="4508957"/>
              <a:ext cx="661618" cy="0"/>
            </a:xfrm>
            <a:prstGeom prst="line">
              <a:avLst/>
            </a:pr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680720" y="1578388"/>
              <a:ext cx="8607550" cy="31180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spcFirstLastPara="0" vertOverflow="overflow" horzOverflow="overflow" vert="horz" wrap="square" lIns="91433" tIns="45716" rIns="91433" bIns="45716" numCol="1" spcCol="0" rtlCol="0" fromWordArt="0" anchor="t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all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TECHNICAL REVIEW OF L463 30MY TPO WRAPPED PANELS</a:t>
              </a:r>
              <a:endParaRPr kumimoji="0" lang="en-US" altLang="zh-CN" sz="4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cap="all" noProof="0" dirty="0" err="1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Jinrong</a:t>
              </a:r>
              <a:r>
                <a:rPr lang="en-US" altLang="zh-CN" sz="1600" cap="all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 (SH) Automotive Parts Corp., Ltd</a:t>
              </a:r>
              <a:endParaRPr kumimoji="0" lang="en-US" altLang="zh-CN" sz="1600" b="0" i="0" u="none" strike="noStrike" kern="1200" cap="all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all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pic>
        <p:nvPicPr>
          <p:cNvPr id="9" name="picture 6"/>
          <p:cNvPicPr/>
          <p:nvPr/>
        </p:nvPicPr>
        <p:blipFill>
          <a:blip r:embed="rId5"/>
          <a:stretch>
            <a:fillRect/>
          </a:stretch>
        </p:blipFill>
        <p:spPr>
          <a:xfrm rot="21600000">
            <a:off x="801370" y="757555"/>
            <a:ext cx="3220720" cy="4781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8975" y="424307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</a:rPr>
              <a:t>22nd June 2026</a:t>
            </a:r>
            <a:endParaRPr lang="en-US" altLang="zh-CN" sz="1600">
              <a:solidFill>
                <a:schemeClr val="bg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42770" y="2590165"/>
            <a:ext cx="399351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260288" y="3068975"/>
            <a:ext cx="3324225" cy="1963400"/>
            <a:chOff x="1201933" y="3267730"/>
            <a:chExt cx="3324225" cy="1963400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1201933" y="4832350"/>
              <a:ext cx="3324225" cy="398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PROJECT INFORMATION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PART 01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CONTENTS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9505" y="3175635"/>
            <a:ext cx="4064000" cy="2287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1.1 Project Basic Information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1.2 Project Development Process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1.3 Project Team Members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1.4 Project Timeline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-组合 5"/>
          <p:cNvGrpSpPr/>
          <p:nvPr>
            <p:custDataLst>
              <p:tags r:id="rId1"/>
            </p:custDataLst>
          </p:nvPr>
        </p:nvGrpSpPr>
        <p:grpSpPr>
          <a:xfrm>
            <a:off x="8993" y="5070910"/>
            <a:ext cx="12174014" cy="1678166"/>
            <a:chOff x="999439" y="2555167"/>
            <a:chExt cx="10193123" cy="2006091"/>
          </a:xfrm>
        </p:grpSpPr>
        <p:sp>
          <p:nvSpPr>
            <p:cNvPr id="3" name="PA-椭圆 2"/>
            <p:cNvSpPr/>
            <p:nvPr>
              <p:custDataLst>
                <p:tags r:id="rId2"/>
              </p:custDataLst>
            </p:nvPr>
          </p:nvSpPr>
          <p:spPr>
            <a:xfrm>
              <a:off x="1892158" y="2933360"/>
              <a:ext cx="8407684" cy="1376275"/>
            </a:xfrm>
            <a:prstGeom prst="ellipse">
              <a:avLst/>
            </a:prstGeom>
            <a:gradFill flip="none" rotWithShape="1">
              <a:gsLst>
                <a:gs pos="40000">
                  <a:schemeClr val="accent2">
                    <a:alpha val="0"/>
                  </a:schemeClr>
                </a:gs>
                <a:gs pos="100000">
                  <a:schemeClr val="accent1">
                    <a:alpha val="21000"/>
                  </a:scheme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OPPOSans M" panose="00020600040101010101" charset="-122"/>
                  <a:cs typeface="Arial" panose="020B0604020202020204" pitchFamily="34" charset="0"/>
                </a:rPr>
                <a:t> 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27" name="PA-椭圆 26"/>
            <p:cNvSpPr/>
            <p:nvPr>
              <p:custDataLst>
                <p:tags r:id="rId3"/>
              </p:custDataLst>
            </p:nvPr>
          </p:nvSpPr>
          <p:spPr>
            <a:xfrm>
              <a:off x="999439" y="2555167"/>
              <a:ext cx="10193123" cy="2006091"/>
            </a:xfrm>
            <a:prstGeom prst="ellipse">
              <a:avLst/>
            </a:prstGeom>
            <a:noFill/>
            <a:ln w="12700">
              <a:gradFill>
                <a:gsLst>
                  <a:gs pos="19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OPPOSans M" panose="00020600040101010101" charset="-122"/>
                  <a:cs typeface="Arial" panose="020B0604020202020204" pitchFamily="34" charset="0"/>
                </a:rPr>
                <a:t> 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PA-任意多边形 9"/>
          <p:cNvSpPr/>
          <p:nvPr>
            <p:custDataLst>
              <p:tags r:id="rId4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4" name="PA-文本框 63"/>
          <p:cNvSpPr txBox="1"/>
          <p:nvPr>
            <p:custDataLst>
              <p:tags r:id="rId5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1.1</a:t>
            </a:r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Project Information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2577465" y="1460500"/>
            <a:ext cx="3310890" cy="1229360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2577465" y="1840230"/>
            <a:ext cx="3291840" cy="615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Jaguar Land Rover –</a:t>
            </a:r>
            <a:endParaRPr kumimoji="1"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Defender</a:t>
            </a:r>
            <a:endParaRPr kumimoji="1"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2893060" y="1267460"/>
            <a:ext cx="2679700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Brand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9"/>
            </p:custDataLst>
          </p:nvPr>
        </p:nvSpPr>
        <p:spPr>
          <a:xfrm>
            <a:off x="2577465" y="3104515"/>
            <a:ext cx="3310890" cy="1229360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CPT JLR China IEO Warehouse</a:t>
            </a:r>
            <a:endParaRPr kumimoji="1"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5" name="矩形 64"/>
          <p:cNvSpPr/>
          <p:nvPr>
            <p:custDataLst>
              <p:tags r:id="rId10"/>
            </p:custDataLst>
          </p:nvPr>
        </p:nvSpPr>
        <p:spPr>
          <a:xfrm>
            <a:off x="2602230" y="3626485"/>
            <a:ext cx="3261995" cy="30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>
            <p:custDataLst>
              <p:tags r:id="rId11"/>
            </p:custDataLst>
          </p:nvPr>
        </p:nvSpPr>
        <p:spPr>
          <a:xfrm>
            <a:off x="2893060" y="2911475"/>
            <a:ext cx="2679700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Logistic Terms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8" name="矩形 67"/>
          <p:cNvSpPr/>
          <p:nvPr>
            <p:custDataLst>
              <p:tags r:id="rId12"/>
            </p:custDataLst>
          </p:nvPr>
        </p:nvSpPr>
        <p:spPr>
          <a:xfrm>
            <a:off x="6746240" y="1460500"/>
            <a:ext cx="3310890" cy="1229360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矩形 68"/>
          <p:cNvSpPr/>
          <p:nvPr>
            <p:custDataLst>
              <p:tags r:id="rId13"/>
            </p:custDataLst>
          </p:nvPr>
        </p:nvSpPr>
        <p:spPr>
          <a:xfrm>
            <a:off x="7440295" y="1966595"/>
            <a:ext cx="1922145" cy="30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L463 30MY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0" name="文本框 69"/>
          <p:cNvSpPr txBox="1"/>
          <p:nvPr>
            <p:custDataLst>
              <p:tags r:id="rId14"/>
            </p:custDataLst>
          </p:nvPr>
        </p:nvSpPr>
        <p:spPr>
          <a:xfrm>
            <a:off x="7060565" y="1267460"/>
            <a:ext cx="2681605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Project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2" name="矩形 71"/>
          <p:cNvSpPr/>
          <p:nvPr>
            <p:custDataLst>
              <p:tags r:id="rId15"/>
            </p:custDataLst>
          </p:nvPr>
        </p:nvSpPr>
        <p:spPr>
          <a:xfrm>
            <a:off x="6746240" y="3104515"/>
            <a:ext cx="3310890" cy="1229360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矩形 72"/>
          <p:cNvSpPr/>
          <p:nvPr>
            <p:custDataLst>
              <p:tags r:id="rId16"/>
            </p:custDataLst>
          </p:nvPr>
        </p:nvSpPr>
        <p:spPr>
          <a:xfrm>
            <a:off x="7440295" y="3590925"/>
            <a:ext cx="1922145" cy="30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10,845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>
            <p:custDataLst>
              <p:tags r:id="rId17"/>
            </p:custDataLst>
          </p:nvPr>
        </p:nvSpPr>
        <p:spPr>
          <a:xfrm>
            <a:off x="7060565" y="2911475"/>
            <a:ext cx="2681605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Average Annual Volume 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18"/>
            </p:custDataLst>
          </p:nvPr>
        </p:nvSpPr>
        <p:spPr>
          <a:xfrm>
            <a:off x="2573655" y="4823460"/>
            <a:ext cx="3341370" cy="1210945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Nitra Slovakia</a:t>
            </a:r>
            <a:endParaRPr kumimoji="1" lang="en-US" altLang="zh-CN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9"/>
            </p:custDataLst>
          </p:nvPr>
        </p:nvSpPr>
        <p:spPr>
          <a:xfrm>
            <a:off x="2958036" y="4605661"/>
            <a:ext cx="2679504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PLANT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20"/>
            </p:custDataLst>
          </p:nvPr>
        </p:nvSpPr>
        <p:spPr>
          <a:xfrm>
            <a:off x="6766696" y="4787527"/>
            <a:ext cx="3310835" cy="1229341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11/12/2028</a:t>
            </a:r>
            <a:endParaRPr kumimoji="1" lang="en-US" altLang="zh-CN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1"/>
            </p:custDataLst>
          </p:nvPr>
        </p:nvSpPr>
        <p:spPr>
          <a:xfrm>
            <a:off x="7062676" y="4605661"/>
            <a:ext cx="2679504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JOB1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-组合 5"/>
          <p:cNvGrpSpPr/>
          <p:nvPr>
            <p:custDataLst>
              <p:tags r:id="rId1"/>
            </p:custDataLst>
          </p:nvPr>
        </p:nvGrpSpPr>
        <p:grpSpPr>
          <a:xfrm>
            <a:off x="8993" y="5070910"/>
            <a:ext cx="12174014" cy="1678166"/>
            <a:chOff x="999439" y="2555167"/>
            <a:chExt cx="10193123" cy="2006091"/>
          </a:xfrm>
        </p:grpSpPr>
        <p:sp>
          <p:nvSpPr>
            <p:cNvPr id="3" name="PA-椭圆 2"/>
            <p:cNvSpPr/>
            <p:nvPr>
              <p:custDataLst>
                <p:tags r:id="rId2"/>
              </p:custDataLst>
            </p:nvPr>
          </p:nvSpPr>
          <p:spPr>
            <a:xfrm>
              <a:off x="1892158" y="2933360"/>
              <a:ext cx="8407684" cy="1376275"/>
            </a:xfrm>
            <a:prstGeom prst="ellipse">
              <a:avLst/>
            </a:prstGeom>
            <a:gradFill flip="none" rotWithShape="1">
              <a:gsLst>
                <a:gs pos="40000">
                  <a:schemeClr val="accent2">
                    <a:alpha val="0"/>
                  </a:schemeClr>
                </a:gs>
                <a:gs pos="100000">
                  <a:schemeClr val="accent1">
                    <a:alpha val="21000"/>
                  </a:scheme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OPPOSans M" panose="00020600040101010101" charset="-122"/>
                  <a:cs typeface="Arial" panose="020B0604020202020204" pitchFamily="34" charset="0"/>
                </a:rPr>
                <a:t> 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27" name="PA-椭圆 26"/>
            <p:cNvSpPr/>
            <p:nvPr>
              <p:custDataLst>
                <p:tags r:id="rId3"/>
              </p:custDataLst>
            </p:nvPr>
          </p:nvSpPr>
          <p:spPr>
            <a:xfrm>
              <a:off x="999439" y="2555167"/>
              <a:ext cx="10193123" cy="2006091"/>
            </a:xfrm>
            <a:prstGeom prst="ellipse">
              <a:avLst/>
            </a:prstGeom>
            <a:noFill/>
            <a:ln w="12700">
              <a:gradFill>
                <a:gsLst>
                  <a:gs pos="19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OPPOSans M" panose="00020600040101010101" charset="-122"/>
                  <a:cs typeface="Arial" panose="020B0604020202020204" pitchFamily="34" charset="0"/>
                </a:rPr>
                <a:t> 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PA-任意多边形 9"/>
          <p:cNvSpPr/>
          <p:nvPr>
            <p:custDataLst>
              <p:tags r:id="rId4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4" name="PA-文本框 63"/>
          <p:cNvSpPr txBox="1"/>
          <p:nvPr>
            <p:custDataLst>
              <p:tags r:id="rId5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1.2 Project Development Process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5495925" y="217932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Retrieve frozen data</a:t>
            </a:r>
            <a:endParaRPr lang="en-US" altLang="zh-CN" sz="8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5495925" y="301815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Process flowchart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5495925" y="336931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PFMEA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5495925" y="2530475"/>
            <a:ext cx="1450340" cy="3892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Design approval of </a:t>
            </a:r>
            <a:r>
              <a:rPr lang="en-US" altLang="zh-CN" sz="900" dirty="0" err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tooling&amp;fixture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5495925" y="407098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List of sub suppliers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5495925" y="371983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Control plan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7414895" y="524065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PPAP recognition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5495925" y="4422140"/>
            <a:ext cx="1450340" cy="61087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New equipment/tooling and facility requirements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5495925" y="5131435"/>
            <a:ext cx="1450340" cy="47942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Technical and quality agreements with sub suppliers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7414895" y="488061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PPAP Preparation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5495925" y="570992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Periodic review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7414895" y="560133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Periodic review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5495925" y="1546860"/>
            <a:ext cx="1450340" cy="534035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Process Design and Development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" name="AutoShape 25"/>
          <p:cNvSpPr>
            <a:spLocks noChangeArrowheads="1"/>
          </p:cNvSpPr>
          <p:nvPr/>
        </p:nvSpPr>
        <p:spPr bwMode="auto">
          <a:xfrm>
            <a:off x="3153410" y="1376680"/>
            <a:ext cx="396240" cy="234950"/>
          </a:xfrm>
          <a:prstGeom prst="rightArrow">
            <a:avLst>
              <a:gd name="adj1" fmla="val 50000"/>
              <a:gd name="adj2" fmla="val 71898"/>
            </a:avLst>
          </a:prstGeom>
          <a:solidFill>
            <a:srgbClr val="0A1F68"/>
          </a:solidFill>
          <a:ln w="9525">
            <a:noFill/>
            <a:miter lim="800000"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 b="0"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7414895" y="1760220"/>
            <a:ext cx="1450340" cy="532130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Product and Process Validation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9333865" y="1784350"/>
            <a:ext cx="1450340" cy="508000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sp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Alibaba PuHuiTi" pitchFamily="18" charset="-122"/>
                <a:cs typeface="Arial" panose="020B0604020202020204" pitchFamily="34" charset="0"/>
              </a:rPr>
              <a:t>Feedback evaluation and corrective measures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Alibaba PuHuiTi" pitchFamily="18" charset="-122"/>
              <a:cs typeface="Arial" panose="020B0604020202020204" pitchFamily="34" charset="0"/>
            </a:endParaRP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7414895" y="2393315"/>
            <a:ext cx="1450340" cy="34861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Approval of tooling &amp; checking fixture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7414895" y="343852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OTS Review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7414895" y="379920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Functional testing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7414895" y="2850515"/>
            <a:ext cx="1450340" cy="47942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Design and Manufacturing of </a:t>
            </a:r>
            <a:r>
              <a:rPr lang="en-US" altLang="zh-CN" sz="900" dirty="0" err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assy</a:t>
            </a: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fixture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7414895" y="415925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Skill operation training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9333865" y="2386965"/>
            <a:ext cx="1450340" cy="41592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Alibaba PuHuiTi" pitchFamily="18" charset="-122"/>
                <a:cs typeface="Arial" panose="020B0604020202020204" pitchFamily="34" charset="0"/>
              </a:rPr>
              <a:t>Continuous improvement</a:t>
            </a:r>
            <a:endParaRPr lang="en-US" altLang="zh-CN" sz="900" dirty="0">
              <a:latin typeface="Arial" panose="020B0604020202020204" pitchFamily="34" charset="0"/>
              <a:ea typeface="Alibaba PuHuiTi" pitchFamily="18" charset="-122"/>
              <a:cs typeface="Arial" panose="020B0604020202020204" pitchFamily="34" charset="0"/>
            </a:endParaRPr>
          </a:p>
        </p:txBody>
      </p:sp>
      <p:sp>
        <p:nvSpPr>
          <p:cNvPr id="38" name="Text Box 18"/>
          <p:cNvSpPr txBox="1">
            <a:spLocks noChangeArrowheads="1"/>
          </p:cNvSpPr>
          <p:nvPr/>
        </p:nvSpPr>
        <p:spPr bwMode="auto">
          <a:xfrm>
            <a:off x="7414895" y="451993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Inspection standards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678940" y="1210310"/>
            <a:ext cx="1450340" cy="538480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Plan and Define Projects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1678940" y="1852295"/>
            <a:ext cx="1450340" cy="5035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Feasibility analysis report/project review report</a:t>
            </a:r>
            <a:endParaRPr lang="en-US" altLang="zh-CN" sz="8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1678940" y="340106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Project schedule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1678940" y="380492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Test outline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1678940" y="299783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Project kickoff meeting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3" name="Text Box 18"/>
          <p:cNvSpPr txBox="1">
            <a:spLocks noChangeArrowheads="1"/>
          </p:cNvSpPr>
          <p:nvPr/>
        </p:nvSpPr>
        <p:spPr bwMode="auto">
          <a:xfrm>
            <a:off x="1678940" y="420814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packing design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1" name="Text Box 18"/>
          <p:cNvSpPr txBox="1">
            <a:spLocks noChangeArrowheads="1"/>
          </p:cNvSpPr>
          <p:nvPr/>
        </p:nvSpPr>
        <p:spPr bwMode="auto">
          <a:xfrm>
            <a:off x="1678940" y="2497455"/>
            <a:ext cx="1450340" cy="34861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Development Task Book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3549650" y="1359535"/>
            <a:ext cx="1450340" cy="538480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Product Design and Development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3549650" y="2001520"/>
            <a:ext cx="1450340" cy="5035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Design target and quality target</a:t>
            </a:r>
            <a:endParaRPr lang="en-US" altLang="zh-CN" sz="8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3549650" y="355028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Specific product and process characristics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3549650" y="395414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DV test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3549650" y="314706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Initial process flow chat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3549650" y="435737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2D/3D data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" name="Text Box 18"/>
          <p:cNvSpPr txBox="1">
            <a:spLocks noChangeArrowheads="1"/>
          </p:cNvSpPr>
          <p:nvPr/>
        </p:nvSpPr>
        <p:spPr bwMode="auto">
          <a:xfrm>
            <a:off x="3549650" y="2646680"/>
            <a:ext cx="1450340" cy="34861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Initial BOM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3" name="Text Box 18"/>
          <p:cNvSpPr txBox="1">
            <a:spLocks noChangeArrowheads="1"/>
          </p:cNvSpPr>
          <p:nvPr/>
        </p:nvSpPr>
        <p:spPr bwMode="auto">
          <a:xfrm>
            <a:off x="3549650" y="473837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Product quality assurance plan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3549650" y="509905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Tooling and fixture list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6" name="AutoShape 25"/>
          <p:cNvSpPr>
            <a:spLocks noChangeArrowheads="1"/>
          </p:cNvSpPr>
          <p:nvPr/>
        </p:nvSpPr>
        <p:spPr bwMode="auto">
          <a:xfrm>
            <a:off x="5055870" y="1617345"/>
            <a:ext cx="396240" cy="234950"/>
          </a:xfrm>
          <a:prstGeom prst="rightArrow">
            <a:avLst>
              <a:gd name="adj1" fmla="val 50000"/>
              <a:gd name="adj2" fmla="val 71898"/>
            </a:avLst>
          </a:prstGeom>
          <a:solidFill>
            <a:srgbClr val="0A1F68"/>
          </a:solidFill>
          <a:ln w="9525">
            <a:noFill/>
            <a:miter lim="800000"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 b="0"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7" name="AutoShape 25"/>
          <p:cNvSpPr>
            <a:spLocks noChangeArrowheads="1"/>
          </p:cNvSpPr>
          <p:nvPr/>
        </p:nvSpPr>
        <p:spPr bwMode="auto">
          <a:xfrm>
            <a:off x="6990715" y="1784350"/>
            <a:ext cx="396240" cy="234950"/>
          </a:xfrm>
          <a:prstGeom prst="rightArrow">
            <a:avLst>
              <a:gd name="adj1" fmla="val 50000"/>
              <a:gd name="adj2" fmla="val 71898"/>
            </a:avLst>
          </a:prstGeom>
          <a:solidFill>
            <a:srgbClr val="0A1F68"/>
          </a:solidFill>
          <a:ln w="9525">
            <a:noFill/>
            <a:miter lim="800000"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 b="0"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8" name="AutoShape 25"/>
          <p:cNvSpPr>
            <a:spLocks noChangeArrowheads="1"/>
          </p:cNvSpPr>
          <p:nvPr/>
        </p:nvSpPr>
        <p:spPr bwMode="auto">
          <a:xfrm>
            <a:off x="8937625" y="1898015"/>
            <a:ext cx="396240" cy="234950"/>
          </a:xfrm>
          <a:prstGeom prst="rightArrow">
            <a:avLst>
              <a:gd name="adj1" fmla="val 50000"/>
              <a:gd name="adj2" fmla="val 71898"/>
            </a:avLst>
          </a:prstGeom>
          <a:solidFill>
            <a:srgbClr val="0A1F68"/>
          </a:solidFill>
          <a:ln w="9525">
            <a:noFill/>
            <a:miter lim="800000"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 b="0"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1.3 Project Team Members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" y="1441450"/>
            <a:ext cx="11685270" cy="4196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1.4 Project Timeline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31595" y="1094105"/>
            <a:ext cx="10053320" cy="2850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PR release in Dec. 2026.  VB MRD is May 10th 2027.</a:t>
            </a:r>
            <a:endParaRPr lang="en-US" altLang="zh-CN"/>
          </a:p>
          <a:p>
            <a:r>
              <a:rPr lang="en-US" altLang="zh-CN"/>
              <a:t>Time is short for tooling development and delivery.</a:t>
            </a:r>
            <a:endParaRPr lang="en-US" altLang="zh-CN"/>
          </a:p>
          <a:p>
            <a:r>
              <a:rPr lang="en-US" altLang="zh-CN"/>
              <a:t>Some parts need air freight according to the build plan of VB vehicles.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470" y="1915160"/>
            <a:ext cx="7935595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1.5 Similar Project Experience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3555" y="1524000"/>
            <a:ext cx="3100070" cy="1600835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4086225" y="1548130"/>
            <a:ext cx="3549818" cy="4455160"/>
            <a:chOff x="979" y="3359"/>
            <a:chExt cx="4865" cy="6222"/>
          </a:xfrm>
        </p:grpSpPr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979" y="6732"/>
              <a:ext cx="4865" cy="28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b="0" i="0" dirty="0">
                  <a:ea typeface="+mn-lt"/>
                  <a:cs typeface="Calibri" panose="020F0502020204030204" charset="0"/>
                </a:rPr>
                <a:t>Vehicle: </a:t>
              </a: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Renault XDD Interior parts</a:t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Surface Layer: TPO</a:t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 </a:t>
              </a:r>
              <a:r>
                <a:rPr lang="en-US" altLang="zh-CN" sz="1400" dirty="0">
                  <a:ea typeface="+mn-lt"/>
                  <a:cs typeface="Calibri" panose="020F0502020204030204" charset="0"/>
                </a:rPr>
                <a:t>TPO</a:t>
              </a:r>
              <a:r>
                <a:rPr lang="zh-CN" altLang="en-US" sz="1400" dirty="0">
                  <a:ea typeface="+mn-lt"/>
                  <a:cs typeface="Calibri" panose="020F0502020204030204" charset="0"/>
                </a:rPr>
                <a:t>：</a:t>
              </a:r>
              <a:r>
                <a:rPr lang="en-US" altLang="zh-CN" sz="1400" dirty="0">
                  <a:ea typeface="+mn-lt"/>
                  <a:cs typeface="Calibri" panose="020F0502020204030204" charset="0"/>
                </a:rPr>
                <a:t> 1.2mm thickness</a:t>
              </a: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 </a:t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Base: PE/MD20</a:t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Process: Mold Injection/Glue lamination</a:t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17" y="3359"/>
              <a:ext cx="3393" cy="298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311785" y="3963007"/>
            <a:ext cx="4119245" cy="20396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ea typeface="+mn-lt"/>
                <a:cs typeface="Calibri" panose="020F0502020204030204" charset="0"/>
              </a:rPr>
              <a:t>Vehicle: </a:t>
            </a: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LUCID Midsize SUV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Surface Layer:  </a:t>
            </a:r>
            <a:r>
              <a:rPr lang="zh-CN" altLang="en-US" sz="1400" dirty="0">
                <a:ea typeface="+mn-lt"/>
                <a:cs typeface="Calibri" panose="020F0502020204030204" charset="0"/>
                <a:sym typeface="+mn-ea"/>
              </a:rPr>
              <a:t>：</a:t>
            </a: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Tufted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Mid Layer: PHC( PU/AL/GF)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Backing Layer: </a:t>
            </a:r>
            <a:r>
              <a:rPr lang="en-US" sz="1400" dirty="0">
                <a:effectLst/>
                <a:sym typeface="+mn-ea"/>
              </a:rPr>
              <a:t>1000gsm PET/PP backing</a:t>
            </a:r>
            <a:endParaRPr lang="en-US" sz="1400" dirty="0">
              <a:effectLst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Proess: Hot forming + Lamination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072755" y="4008755"/>
            <a:ext cx="3833495" cy="14071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ea typeface="+mn-lt"/>
                <a:cs typeface="Calibri" panose="020F0502020204030204" charset="0"/>
              </a:rPr>
              <a:t>Vehicle: </a:t>
            </a: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FORD Bronco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Surface Layer: 1000gsmTPE+100gsm Knitted Fabric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Mid Layer: PHC( PU/Paper/GF)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Backing: 120gsm Non-woven fabric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Process: PUR glue lamination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5404" y="1331200"/>
            <a:ext cx="3502347" cy="23772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42770" y="2590165"/>
            <a:ext cx="399351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446378" y="3068975"/>
            <a:ext cx="2952115" cy="2099925"/>
            <a:chOff x="1388023" y="3267730"/>
            <a:chExt cx="2952115" cy="2099925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1454989" y="4660900"/>
              <a:ext cx="2818130" cy="7067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PARTS LIST AND</a:t>
              </a:r>
              <a:endPara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 PROCESS ANALYSIS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PART 02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CONTENTS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9505" y="2533015"/>
            <a:ext cx="4064000" cy="3408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2.1 RFQ Information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2.2 BOM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2.3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Question List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2.4 Production Process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2.5 Sub-suppliers List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2.6 PFMEA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-椭圆 2"/>
          <p:cNvSpPr/>
          <p:nvPr>
            <p:custDataLst>
              <p:tags r:id="rId1"/>
            </p:custDataLst>
          </p:nvPr>
        </p:nvSpPr>
        <p:spPr>
          <a:xfrm>
            <a:off x="1075055" y="4909185"/>
            <a:ext cx="10041890" cy="1555750"/>
          </a:xfrm>
          <a:prstGeom prst="ellipse">
            <a:avLst/>
          </a:prstGeom>
          <a:gradFill flip="none" rotWithShape="1">
            <a:gsLst>
              <a:gs pos="40000">
                <a:schemeClr val="accent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/>
                <a:ea typeface="OPPOSans M" panose="00020600040101010101" charset="-122"/>
                <a:cs typeface="+mn-cs"/>
              </a:rPr>
              <a:t>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0"/>
                </a:prstClr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2" name="PA-任意多边形 9"/>
          <p:cNvSpPr/>
          <p:nvPr>
            <p:custDataLst>
              <p:tags r:id="rId2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3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2.1 RFQ-Product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523875" y="1242060"/>
            <a:ext cx="10271760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dirty="0"/>
              <a:t>Exploded View: </a:t>
            </a:r>
            <a:r>
              <a:rPr lang="en-GB" sz="2000" dirty="0">
                <a:solidFill>
                  <a:srgbClr val="000000"/>
                </a:solidFill>
              </a:rPr>
              <a:t>6 SEAT ACCESS PANEL</a:t>
            </a:r>
            <a:r>
              <a:rPr lang="en-US" altLang="en-GB" sz="2000" dirty="0">
                <a:solidFill>
                  <a:srgbClr val="000000"/>
                </a:solidFill>
              </a:rPr>
              <a:t> (</a:t>
            </a:r>
            <a:r>
              <a:rPr lang="en-US" sz="2000" dirty="0">
                <a:sym typeface="+mn-ea"/>
              </a:rPr>
              <a:t>CAD REFERENCE: EI_</a:t>
            </a:r>
            <a:r>
              <a:rPr lang="en-GB" sz="2000" dirty="0">
                <a:sym typeface="+mn-ea"/>
              </a:rPr>
              <a:t> Z7B2-13A994-AAW </a:t>
            </a:r>
            <a:r>
              <a:rPr lang="en-US" altLang="en-GB" sz="2000" dirty="0">
                <a:sym typeface="+mn-ea"/>
              </a:rPr>
              <a:t>)</a:t>
            </a:r>
            <a:endParaRPr lang="en-US" altLang="en-GB" sz="2000" dirty="0">
              <a:solidFill>
                <a:srgbClr val="000000"/>
              </a:solidFill>
              <a:sym typeface="+mn-ea"/>
            </a:endParaRPr>
          </a:p>
        </p:txBody>
      </p:sp>
      <p:graphicFrame>
        <p:nvGraphicFramePr>
          <p:cNvPr id="11" name="Table 9"/>
          <p:cNvGraphicFramePr>
            <a:graphicFrameLocks noGrp="1"/>
          </p:cNvGraphicFramePr>
          <p:nvPr/>
        </p:nvGraphicFramePr>
        <p:xfrm>
          <a:off x="4895435" y="1969453"/>
          <a:ext cx="6726555" cy="1253744"/>
        </p:xfrm>
        <a:graphic>
          <a:graphicData uri="http://schemas.openxmlformats.org/drawingml/2006/table">
            <a:tbl>
              <a:tblPr firstRow="1" bandRow="1">
                <a:tableStyleId>{3ADECD50-69A9-4004-97C0-7A6AEA151B63}</a:tableStyleId>
              </a:tblPr>
              <a:tblGrid>
                <a:gridCol w="946150"/>
                <a:gridCol w="2274570"/>
                <a:gridCol w="946150"/>
                <a:gridCol w="2559685"/>
              </a:tblGrid>
              <a:tr h="28702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US" sz="1500" u="none" strike="noStrike" spc="12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Sr.no.</a:t>
                      </a:r>
                      <a:endParaRPr lang="en-US" sz="1500" u="none" strike="noStrike" spc="12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US" sz="1500" u="none" strike="noStrike" spc="12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Part Name</a:t>
                      </a:r>
                      <a:endParaRPr lang="en-US" sz="1500" u="none" strike="noStrike" spc="12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US" sz="1500" u="none" strike="noStrike" spc="12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Qty.</a:t>
                      </a:r>
                      <a:endParaRPr lang="en-US" sz="1500" u="none" strike="noStrike" spc="12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US" sz="1500" u="none" strike="noStrike" spc="12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Remark</a:t>
                      </a:r>
                      <a:endParaRPr lang="en-US" sz="1500" u="none" strike="noStrike" spc="12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25019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1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GB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6 SEAT ACCESS PANEL</a:t>
                      </a:r>
                      <a:endParaRPr lang="en-GB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IN" sz="1300" u="none" strike="noStrike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1</a:t>
                      </a:r>
                      <a:endParaRPr lang="en-IN" sz="1300" u="none" strike="noStrike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en-IN" sz="1300" u="none" strike="noStrike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IM Process</a:t>
                      </a:r>
                      <a:endParaRPr lang="en-IN" sz="1300" u="none" strike="noStrike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250190"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US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2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ITW MAT CLIP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1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Clip Assy Process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250190"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US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3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W780230-S CLIP STANDARD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8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Clip Assy Process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</a:tbl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156845" y="4338955"/>
            <a:ext cx="7170420" cy="2141855"/>
            <a:chOff x="247" y="6465"/>
            <a:chExt cx="11292" cy="3373"/>
          </a:xfrm>
        </p:grpSpPr>
        <p:pic>
          <p:nvPicPr>
            <p:cNvPr id="12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" y="7163"/>
              <a:ext cx="2473" cy="205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0" y="6636"/>
              <a:ext cx="4271" cy="320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71" y="6636"/>
              <a:ext cx="4168" cy="3113"/>
            </a:xfrm>
            <a:prstGeom prst="rect">
              <a:avLst/>
            </a:prstGeom>
          </p:spPr>
        </p:pic>
        <p:sp>
          <p:nvSpPr>
            <p:cNvPr id="9" name="椭圆 8"/>
            <p:cNvSpPr/>
            <p:nvPr/>
          </p:nvSpPr>
          <p:spPr>
            <a:xfrm>
              <a:off x="247" y="6465"/>
              <a:ext cx="584" cy="584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19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4690" y="4338320"/>
            <a:ext cx="3035935" cy="212090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139700" y="4272280"/>
            <a:ext cx="7273925" cy="2367280"/>
          </a:xfrm>
          <a:prstGeom prst="roundRect">
            <a:avLst>
              <a:gd name="adj" fmla="val 42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7635240" y="4272280"/>
            <a:ext cx="4175760" cy="2285365"/>
          </a:xfrm>
          <a:prstGeom prst="roundRect">
            <a:avLst>
              <a:gd name="adj" fmla="val 42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717790" y="4368165"/>
            <a:ext cx="370840" cy="3708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40" y="1701165"/>
            <a:ext cx="3611245" cy="18256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2135" y="889000"/>
            <a:ext cx="640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+mn-ea"/>
              </a:rPr>
              <a:t>Injection moulding (grained) + Clip Assy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4196080"/>
            <a:ext cx="5086350" cy="2661920"/>
          </a:xfrm>
          <a:prstGeom prst="rect">
            <a:avLst/>
          </a:prstGeom>
        </p:spPr>
      </p:pic>
      <p:sp>
        <p:nvSpPr>
          <p:cNvPr id="2" name="PA-任意多边形 9"/>
          <p:cNvSpPr/>
          <p:nvPr>
            <p:custDataLst>
              <p:tags r:id="rId2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3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2.1  RFQ-BOM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3280" y="993775"/>
            <a:ext cx="640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+mn-ea"/>
              </a:rPr>
              <a:t>Injection moulding (grained) + Clip Assy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4"/>
            </p:custDataLst>
          </p:nvPr>
        </p:nvGraphicFramePr>
        <p:xfrm>
          <a:off x="758190" y="1407795"/>
          <a:ext cx="10917555" cy="2936240"/>
        </p:xfrm>
        <a:graphic>
          <a:graphicData uri="http://schemas.openxmlformats.org/drawingml/2006/table">
            <a:tbl>
              <a:tblPr firstRow="1" bandRow="1">
                <a:tableStyleId>{5186C6ED-45D3-464C-9B91-01AB4A93FB67}</a:tableStyleId>
              </a:tblPr>
              <a:tblGrid>
                <a:gridCol w="564515"/>
                <a:gridCol w="1908175"/>
                <a:gridCol w="2084070"/>
                <a:gridCol w="1948180"/>
                <a:gridCol w="1280160"/>
                <a:gridCol w="1427480"/>
                <a:gridCol w="1704975"/>
              </a:tblGrid>
              <a:tr h="80772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No.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Part Number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PART DESIGNATION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Material Information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Size</a:t>
                      </a:r>
                      <a:r>
                        <a:rPr lang="zh-CN" altLang="en-US" sz="1300" spc="120">
                          <a:latin typeface="Arial" panose="020B0604020202020204" pitchFamily="34" charset="0"/>
                          <a:ea typeface="OPPOSans M" charset="0"/>
                        </a:rPr>
                        <a:t>（</a:t>
                      </a: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mm</a:t>
                      </a:r>
                      <a:r>
                        <a:rPr lang="zh-CN" altLang="en-US" sz="1300" spc="120">
                          <a:latin typeface="Arial" panose="020B0604020202020204" pitchFamily="34" charset="0"/>
                          <a:ea typeface="OPPOSans M" charset="0"/>
                        </a:rPr>
                        <a:t>）</a:t>
                      </a:r>
                      <a:endParaRPr lang="zh-CN" altLang="en-US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Total Weight (kg)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Sub-supplier Proposal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Z7B2-13A994-AAW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6 SEAT ACCESS PANEL REAR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Assembly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/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1.1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  <a:sym typeface="+mn-ea"/>
                        </a:rPr>
                        <a:t>Z7B2-13A994-AAW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/>
                        <a:t>6 SEAT ACCESS PANEL REAR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ABS (Magnum 3325)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490*329*52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0.45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Trinseo</a:t>
                      </a: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1.2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GB" sz="1100" dirty="0">
                          <a:latin typeface="Arial" panose="020B0604020202020204" pitchFamily="34" charset="0"/>
                          <a:ea typeface="OPPOSans M" charset="0"/>
                        </a:rPr>
                        <a:t>ITW CLIP</a:t>
                      </a:r>
                      <a:endParaRPr lang="en-GB" sz="1100" dirty="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PA66+GF30/</a:t>
                      </a:r>
                      <a:endParaRPr lang="en-US" altLang="zh-CN" sz="1100">
                        <a:ea typeface="OPPOSans M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POM</a:t>
                      </a: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 couple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(upper+lower)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ITW</a:t>
                      </a: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1.3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GB" sz="1100" dirty="0">
                          <a:latin typeface="Arial" panose="020B0604020202020204" pitchFamily="34" charset="0"/>
                          <a:ea typeface="OPPOSans M" charset="0"/>
                        </a:rPr>
                        <a:t>W780230-S CLIP STANDARD</a:t>
                      </a:r>
                      <a:endParaRPr lang="en-GB" sz="1100" dirty="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BS 1449 CS70 / HS70</a:t>
                      </a: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8 pieces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</a:tbl>
          </a:graphicData>
        </a:graphic>
      </p:graphicFrame>
      <p:sp>
        <p:nvSpPr>
          <p:cNvPr id="17" name="TextBox 7"/>
          <p:cNvSpPr txBox="1"/>
          <p:nvPr/>
        </p:nvSpPr>
        <p:spPr>
          <a:xfrm>
            <a:off x="6165215" y="4862830"/>
            <a:ext cx="4980305" cy="90043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/>
              <a:t>Proposed</a:t>
            </a:r>
            <a:r>
              <a:rPr lang="en-GB" sz="1100" baseline="0" dirty="0"/>
              <a:t> Material - ABS MAGNUM 3325</a:t>
            </a:r>
            <a:endParaRPr lang="en-GB" sz="1100" baseline="0" dirty="0"/>
          </a:p>
          <a:p>
            <a:endParaRPr lang="en-GB" dirty="0"/>
          </a:p>
          <a:p>
            <a:r>
              <a:rPr lang="en-GB" sz="1100" dirty="0"/>
              <a:t>Colour – Shadow</a:t>
            </a:r>
            <a:endParaRPr lang="en-GB" sz="1100" dirty="0"/>
          </a:p>
          <a:p>
            <a:endParaRPr lang="en-GB" dirty="0"/>
          </a:p>
          <a:p>
            <a:r>
              <a:rPr lang="en-GB" sz="1100" dirty="0"/>
              <a:t>Grain – TBC</a:t>
            </a:r>
            <a:endParaRPr lang="en-GB" sz="1100" dirty="0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47027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OPPOSans M" panose="00020600040101010101" charset="-122"/>
                <a:sym typeface="+mn-lt"/>
              </a:rPr>
              <a:t>2.2 Production Process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889000"/>
            <a:ext cx="932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cap="all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TPO WRAPPED PANELS 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728980" y="1875790"/>
            <a:ext cx="1059815" cy="530860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Material Drying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>
            <p:custDataLst>
              <p:tags r:id="rId4"/>
            </p:custDataLst>
          </p:nvPr>
        </p:nvSpPr>
        <p:spPr>
          <a:xfrm>
            <a:off x="5711825" y="1875790"/>
            <a:ext cx="1035685" cy="530860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effectLst/>
                <a:sym typeface="+mn-ea"/>
              </a:rPr>
              <a:t>Part Taking &amp; Edge Trimming</a:t>
            </a:r>
            <a:endParaRPr lang="en-US" altLang="zh-CN" sz="1000" dirty="0">
              <a:solidFill>
                <a:sysClr val="windowText" lastClr="000000"/>
              </a:solidFill>
              <a:effectLst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5"/>
            </p:custDataLst>
          </p:nvPr>
        </p:nvSpPr>
        <p:spPr>
          <a:xfrm>
            <a:off x="2426970" y="1875790"/>
            <a:ext cx="1035685" cy="532130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0" i="0" u="none" strike="noStrike" dirty="0">
                <a:solidFill>
                  <a:sysClr val="windowText" lastClr="000000"/>
                </a:solidFill>
                <a:effectLst/>
              </a:rPr>
              <a:t>Injection Molding</a:t>
            </a:r>
            <a:endParaRPr lang="en-US" altLang="zh-CN" sz="1000" b="0" i="0" u="none" strike="noStrike" dirty="0">
              <a:solidFill>
                <a:sysClr val="windowText" lastClr="000000"/>
              </a:solidFill>
              <a:effectLst/>
            </a:endParaRPr>
          </a:p>
        </p:txBody>
      </p:sp>
      <p:cxnSp>
        <p:nvCxnSpPr>
          <p:cNvPr id="14" name="直接箭头连接符 13"/>
          <p:cNvCxnSpPr>
            <a:stCxn id="5" idx="3"/>
            <a:endCxn id="13" idx="1"/>
          </p:cNvCxnSpPr>
          <p:nvPr>
            <p:custDataLst>
              <p:tags r:id="rId6"/>
            </p:custDataLst>
          </p:nvPr>
        </p:nvCxnSpPr>
        <p:spPr>
          <a:xfrm>
            <a:off x="1788795" y="2141220"/>
            <a:ext cx="63817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3" idx="3"/>
            <a:endCxn id="18" idx="1"/>
          </p:cNvCxnSpPr>
          <p:nvPr>
            <p:custDataLst>
              <p:tags r:id="rId7"/>
            </p:custDataLst>
          </p:nvPr>
        </p:nvCxnSpPr>
        <p:spPr>
          <a:xfrm>
            <a:off x="3462655" y="2141855"/>
            <a:ext cx="57531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7207250" y="1865630"/>
            <a:ext cx="1035685" cy="53149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effectLst/>
                <a:sym typeface="+mn-ea"/>
              </a:rPr>
              <a:t>Assembly process</a:t>
            </a:r>
            <a:endParaRPr lang="en-US" altLang="zh-CN" sz="1000" dirty="0">
              <a:solidFill>
                <a:sysClr val="windowText" lastClr="000000"/>
              </a:solidFill>
              <a:effectLst/>
              <a:sym typeface="+mn-ea"/>
            </a:endParaRPr>
          </a:p>
        </p:txBody>
      </p:sp>
      <p:cxnSp>
        <p:nvCxnSpPr>
          <p:cNvPr id="17" name="直接箭头连接符 16"/>
          <p:cNvCxnSpPr>
            <a:stCxn id="6" idx="3"/>
            <a:endCxn id="15" idx="1"/>
          </p:cNvCxnSpPr>
          <p:nvPr/>
        </p:nvCxnSpPr>
        <p:spPr>
          <a:xfrm flipV="1">
            <a:off x="6747510" y="2131695"/>
            <a:ext cx="459740" cy="9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>
            <p:custDataLst>
              <p:tags r:id="rId8"/>
            </p:custDataLst>
          </p:nvPr>
        </p:nvSpPr>
        <p:spPr>
          <a:xfrm>
            <a:off x="4037965" y="1875790"/>
            <a:ext cx="1035685" cy="53276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0" i="0" u="none" strike="noStrike" dirty="0">
                <a:solidFill>
                  <a:sysClr val="windowText" lastClr="000000"/>
                </a:solidFill>
                <a:effectLst/>
              </a:rPr>
              <a:t>Packing &amp; Cooling</a:t>
            </a:r>
            <a:endParaRPr lang="en-US" altLang="zh-CN" sz="1000" b="0" i="0" u="none" strike="noStrike" dirty="0">
              <a:solidFill>
                <a:sysClr val="windowText" lastClr="000000"/>
              </a:solidFill>
              <a:effectLst/>
            </a:endParaRPr>
          </a:p>
        </p:txBody>
      </p:sp>
      <p:cxnSp>
        <p:nvCxnSpPr>
          <p:cNvPr id="22" name="直接箭头连接符 21"/>
          <p:cNvCxnSpPr/>
          <p:nvPr>
            <p:custDataLst>
              <p:tags r:id="rId9"/>
            </p:custDataLst>
          </p:nvPr>
        </p:nvCxnSpPr>
        <p:spPr>
          <a:xfrm>
            <a:off x="5074920" y="2142490"/>
            <a:ext cx="6642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8733155" y="1875155"/>
            <a:ext cx="1035685" cy="53149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effectLst/>
                <a:sym typeface="+mn-ea"/>
              </a:rPr>
              <a:t>Dimensional &amp; Visual Inspection</a:t>
            </a:r>
            <a:endParaRPr lang="en-US" altLang="zh-CN" sz="1000" dirty="0">
              <a:solidFill>
                <a:sysClr val="windowText" lastClr="000000"/>
              </a:solidFill>
              <a:effectLst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0258425" y="1865630"/>
            <a:ext cx="1035685" cy="53149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effectLst/>
                <a:sym typeface="+mn-ea"/>
              </a:rPr>
              <a:t>Packaging</a:t>
            </a:r>
            <a:endParaRPr lang="en-US" altLang="zh-CN" sz="1000" dirty="0">
              <a:solidFill>
                <a:sysClr val="windowText" lastClr="000000"/>
              </a:solidFill>
              <a:effectLst/>
              <a:sym typeface="+mn-ea"/>
            </a:endParaRPr>
          </a:p>
        </p:txBody>
      </p:sp>
      <p:cxnSp>
        <p:nvCxnSpPr>
          <p:cNvPr id="36" name="直接箭头连接符 35"/>
          <p:cNvCxnSpPr>
            <a:stCxn id="15" idx="3"/>
            <a:endCxn id="30" idx="1"/>
          </p:cNvCxnSpPr>
          <p:nvPr/>
        </p:nvCxnSpPr>
        <p:spPr>
          <a:xfrm>
            <a:off x="8242935" y="2131695"/>
            <a:ext cx="490220" cy="9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9768840" y="2132965"/>
            <a:ext cx="490220" cy="9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8" name="picture 3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4445" r="4445"/>
          <a:stretch>
            <a:fillRect/>
          </a:stretch>
        </p:blipFill>
        <p:spPr>
          <a:xfrm>
            <a:off x="4269740" y="4994910"/>
            <a:ext cx="2223135" cy="140779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4441190" y="6482080"/>
            <a:ext cx="188023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/>
              <a:t>Injection molding machine</a:t>
            </a:r>
            <a:endParaRPr lang="en-US" altLang="zh-CN" sz="1000"/>
          </a:p>
        </p:txBody>
      </p:sp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1080565" y="3229293"/>
          <a:ext cx="3727389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860"/>
                <a:gridCol w="1115695"/>
                <a:gridCol w="1112270"/>
                <a:gridCol w="1095564"/>
              </a:tblGrid>
              <a:tr h="2279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#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solidFill>
                            <a:sysClr val="windowText" lastClr="000000"/>
                          </a:solidFill>
                          <a:sym typeface="+mn-ea"/>
                        </a:rPr>
                        <a:t>Tooling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Lead time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Supplier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Injection Mold*1</a:t>
                      </a:r>
                      <a:endParaRPr lang="en-US" altLang="zh-CN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75D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/</a:t>
                      </a:r>
                      <a:endParaRPr lang="en-US" sz="1200" b="0" i="0" u="none" strike="noStrike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US" altLang="en-US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Dimensional &amp; Visual Inspection Fixture*1</a:t>
                      </a:r>
                      <a:endParaRPr lang="en-US" altLang="zh-CN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60D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dirty="0" err="1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/</a:t>
                      </a:r>
                      <a:endParaRPr lang="en-US" altLang="zh-CN" sz="1200" dirty="0" err="1">
                        <a:solidFill>
                          <a:sysClr val="windowText" lastClr="000000"/>
                        </a:solidFill>
                        <a:effectLst/>
                        <a:sym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文本框 48"/>
          <p:cNvSpPr txBox="1"/>
          <p:nvPr>
            <p:custDataLst>
              <p:tags r:id="rId12"/>
            </p:custDataLst>
          </p:nvPr>
        </p:nvSpPr>
        <p:spPr>
          <a:xfrm>
            <a:off x="1057371" y="2861623"/>
            <a:ext cx="33364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charset="0"/>
                <a:ea typeface="宋体" panose="02010600030101010101" pitchFamily="2" charset="-122"/>
              </a:rPr>
              <a:t>Tooling &amp; Checking fixture</a:t>
            </a:r>
            <a:endParaRPr lang="zh-CN" altLang="en-US" sz="1200" dirty="0">
              <a:solidFill>
                <a:srgbClr val="000000"/>
              </a:solidFill>
              <a:latin typeface="Calibri Light" panose="020F0302020204030204" charset="0"/>
              <a:ea typeface="宋体" panose="02010600030101010101" pitchFamily="2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3"/>
            </p:custDataLst>
          </p:nvPr>
        </p:nvSpPr>
        <p:spPr>
          <a:xfrm>
            <a:off x="6324933" y="2935750"/>
            <a:ext cx="22529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charset="0"/>
                <a:ea typeface="宋体" panose="02010600030101010101" pitchFamily="2" charset="-122"/>
                <a:sym typeface="+mn-ea"/>
              </a:rPr>
              <a:t>Equipment lists</a:t>
            </a:r>
            <a:endParaRPr lang="zh-CN" altLang="en-US" sz="1200" dirty="0">
              <a:solidFill>
                <a:srgbClr val="000000"/>
              </a:solidFill>
              <a:latin typeface="Calibri Light" panose="020F0302020204030204" charset="0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6408972" y="3304020"/>
          <a:ext cx="4093141" cy="6083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1436"/>
                <a:gridCol w="1391920"/>
                <a:gridCol w="1125833"/>
                <a:gridCol w="1233952"/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#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u="none" strike="noStrike" dirty="0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Equipment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Type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Supplier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200" b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altLang="en-US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Injection Molding Machine</a:t>
                      </a:r>
                      <a:endParaRPr lang="en-US" altLang="zh-CN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900T</a:t>
                      </a:r>
                      <a:endParaRPr lang="en-US" altLang="zh-CN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20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/</a:t>
                      </a:r>
                      <a:endParaRPr lang="en-US" altLang="en-US" sz="120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32485" y="1257300"/>
            <a:ext cx="8331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dirty="0">
                <a:sym typeface="+mn-ea"/>
              </a:rPr>
              <a:t>Injection moulding (grained) + Clip Assy</a:t>
            </a:r>
            <a:endParaRPr lang="en-US" altLang="en-GB" dirty="0">
              <a:sym typeface="+mn-ea"/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42770" y="2590165"/>
            <a:ext cx="399351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446378" y="3068975"/>
            <a:ext cx="2952115" cy="2099925"/>
            <a:chOff x="1388023" y="3267730"/>
            <a:chExt cx="2952115" cy="2099925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1640093" y="4660900"/>
              <a:ext cx="2447925" cy="7067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LIST OF TOOLING </a:t>
              </a:r>
              <a:endPara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AND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GAUGE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PART 03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CONTENTS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9505" y="3240405"/>
            <a:ext cx="4064000" cy="1928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3.1 Equipment List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3.2 Tooling and Gauge List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3.3 Production Capacity Analysis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630" y="367030"/>
            <a:ext cx="8843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3. Production Equipment and Tooling list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22630" y="1293495"/>
          <a:ext cx="10752455" cy="799465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570865"/>
                <a:gridCol w="2440940"/>
                <a:gridCol w="1673225"/>
                <a:gridCol w="2022475"/>
                <a:gridCol w="2022475"/>
                <a:gridCol w="2022475"/>
              </a:tblGrid>
              <a:tr h="4876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#</a:t>
                      </a:r>
                      <a:endParaRPr lang="en-US" altLang="zh-CN" sz="16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u="none" strike="noStrike" dirty="0">
                          <a:effectLst/>
                        </a:rPr>
                        <a:t>Equipment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dirty="0">
                          <a:effectLst/>
                        </a:rPr>
                        <a:t>Existing</a:t>
                      </a:r>
                      <a:r>
                        <a:rPr lang="en-US" altLang="zh-CN" sz="1600" u="none" strike="noStrike" dirty="0">
                          <a:effectLst/>
                        </a:rPr>
                        <a:t> QTY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>
                          <a:effectLst/>
                        </a:rPr>
                        <a:t>Free </a:t>
                      </a:r>
                      <a:endParaRPr lang="en-US" altLang="zh-CN" sz="1600" u="none" strike="noStrike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zh-CN" sz="1600" u="none" strike="noStrike">
                          <a:effectLst/>
                        </a:rPr>
                        <a:t>Capactiy</a:t>
                      </a:r>
                      <a:endParaRPr lang="en-US" altLang="zh-CN" sz="16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>
                          <a:effectLst/>
                        </a:rPr>
                        <a:t>Required </a:t>
                      </a:r>
                      <a:endParaRPr lang="en-US" altLang="zh-CN" sz="1600" u="none" strike="noStrike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Capacity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Comments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</a:tr>
              <a:tr h="3117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600" u="none" strike="noStrike">
                          <a:effectLst/>
                        </a:rPr>
                        <a:t>1</a:t>
                      </a:r>
                      <a:endParaRPr lang="en-US" altLang="en-US" sz="16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Injection Molding Machine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2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50%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4%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900T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722630" y="3381375"/>
          <a:ext cx="10847705" cy="1398905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758825"/>
                <a:gridCol w="3968750"/>
                <a:gridCol w="1360170"/>
                <a:gridCol w="1863090"/>
                <a:gridCol w="1454150"/>
                <a:gridCol w="1442720"/>
              </a:tblGrid>
              <a:tr h="488950"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</a:pPr>
                      <a:r>
                        <a:rPr lang="en-US" altLang="zh-CN" sz="1200" u="none" strike="noStrike" spc="120">
                          <a:effectLst/>
                        </a:rPr>
                        <a:t>#</a:t>
                      </a:r>
                      <a:endParaRPr lang="en-US" altLang="zh-CN" sz="1200" u="none" strike="noStrike" spc="12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spc="120" dirty="0"/>
                        <a:t>Tooling</a:t>
                      </a:r>
                      <a:endParaRPr lang="en-US" altLang="zh-CN" sz="1200" spc="120" dirty="0"/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200" u="none" strike="noStrike" spc="120" dirty="0">
                          <a:effectLst/>
                        </a:rPr>
                        <a:t>QTY</a:t>
                      </a:r>
                      <a:endParaRPr lang="en-US" altLang="zh-CN" sz="1200" u="none" strike="noStrike" spc="120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kern="1200" spc="120" dirty="0">
                          <a:effectLst/>
                        </a:rPr>
                        <a:t>Lead time</a:t>
                      </a:r>
                      <a:endParaRPr lang="en-US" altLang="zh-CN" sz="1200" u="none" strike="noStrike" kern="1200" spc="120" dirty="0">
                        <a:effectLst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kern="1200" spc="120" dirty="0">
                          <a:effectLst/>
                        </a:rPr>
                        <a:t>(days)</a:t>
                      </a:r>
                      <a:endParaRPr lang="en-US" altLang="zh-CN" sz="1200" u="none" strike="noStrike" kern="1200" spc="120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spc="120">
                          <a:effectLst/>
                        </a:rPr>
                        <a:t>Cavity</a:t>
                      </a:r>
                      <a:endParaRPr lang="en-US" altLang="zh-CN" sz="1200" u="none" strike="noStrike" spc="12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spc="120">
                          <a:effectLst/>
                        </a:rPr>
                        <a:t>Note</a:t>
                      </a:r>
                      <a:endParaRPr lang="en-US" altLang="zh-CN" sz="1200" u="none" strike="noStrike" spc="120">
                        <a:effectLst/>
                      </a:endParaRPr>
                    </a:p>
                  </a:txBody>
                  <a:tcPr marL="254000" marR="254000" marT="25400" marB="25400" anchor="ctr"/>
                </a:tc>
              </a:tr>
              <a:tr h="295910"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Injection Mold + grain</a:t>
                      </a:r>
                      <a:endParaRPr lang="en-US" altLang="zh-CN" sz="1200" u="none" strike="noStrike" dirty="0">
                        <a:solidFill>
                          <a:sysClr val="windowText" lastClr="000000"/>
                        </a:solidFill>
                        <a:effectLst/>
                        <a:sym typeface="+mn-ea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75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2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With grain</a:t>
                      </a:r>
                      <a:endParaRPr 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</a:tr>
              <a:tr h="295910">
                <a:tc>
                  <a:txBody>
                    <a:bodyPr/>
                    <a:p>
                      <a:pPr algn="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>
                          <a:effectLst/>
                        </a:rPr>
                        <a:t>2</a:t>
                      </a:r>
                      <a:endParaRPr lang="en-US" alt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dirty="0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Clip Assembly fixture</a:t>
                      </a:r>
                      <a:endParaRPr lang="en-US" altLang="zh-CN" sz="1200" u="none" strike="noStrike" dirty="0">
                        <a:solidFill>
                          <a:sysClr val="windowText" lastClr="000000"/>
                        </a:solidFill>
                        <a:effectLst/>
                        <a:sym typeface="+mn-ea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>
                          <a:effectLst/>
                        </a:rPr>
                        <a:t>1</a:t>
                      </a:r>
                      <a:endParaRPr lang="en-US" alt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40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1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</a:tr>
              <a:tr h="318135"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>
                          <a:effectLst/>
                        </a:rPr>
                        <a:t>3</a:t>
                      </a:r>
                      <a:endParaRPr lang="en-US" alt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Dimensional &amp; Visual Inspection Fixture</a:t>
                      </a:r>
                      <a:endParaRPr lang="en-US" altLang="zh-CN" sz="1200" u="none" strike="noStrike" dirty="0">
                        <a:solidFill>
                          <a:sysClr val="windowText" lastClr="000000"/>
                        </a:solidFill>
                        <a:effectLst/>
                        <a:sym typeface="+mn-ea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>
                          <a:effectLst/>
                        </a:rPr>
                        <a:t>1</a:t>
                      </a:r>
                      <a:endParaRPr lang="en-US" alt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60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1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52295" y="2590165"/>
            <a:ext cx="870648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085037" y="3068975"/>
            <a:ext cx="8240395" cy="1791950"/>
            <a:chOff x="-1256143" y="3267730"/>
            <a:chExt cx="8240395" cy="1791950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-1256143" y="4660900"/>
              <a:ext cx="8240395" cy="398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EXPERIENCE WITH SIMILAR TOOLING AND CHECKING FIXTURES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PART 04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CONTENTS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4. Similar Product Experience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4355" y="890905"/>
            <a:ext cx="5596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Plastic injection molding - Similar Parts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u"/>
            </a:pPr>
            <a:r>
              <a:rPr lang="en-US" altLang="zh-CN" b="1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Mold Flow</a:t>
            </a:r>
            <a:endParaRPr lang="en-US" altLang="zh-CN" b="1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690" y="831215"/>
            <a:ext cx="1480185" cy="117665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598805" y="2007870"/>
            <a:ext cx="6656070" cy="4322445"/>
            <a:chOff x="3903" y="3243"/>
            <a:chExt cx="10482" cy="680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31" y="3344"/>
              <a:ext cx="4278" cy="240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3" y="3243"/>
              <a:ext cx="4374" cy="2603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5126" y="5846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Thickness</a:t>
              </a:r>
              <a:endParaRPr lang="en-US" altLang="zh-CN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799" y="5904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Shrink Mark</a:t>
              </a:r>
              <a:endParaRPr lang="en-US" altLang="zh-CN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10" y="6342"/>
              <a:ext cx="4672" cy="291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31" y="6589"/>
              <a:ext cx="4354" cy="2881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024" y="9470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Tempreture</a:t>
              </a:r>
              <a:endParaRPr lang="en-US" altLang="zh-CN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799" y="9389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Pressure</a:t>
              </a:r>
              <a:endParaRPr lang="en-US" altLang="zh-CN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4260" y="1845945"/>
            <a:ext cx="1919605" cy="1750695"/>
          </a:xfrm>
          <a:prstGeom prst="round2Diag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727315" y="3818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Clip Assembly Fixture</a:t>
            </a:r>
            <a:endParaRPr lang="en-US" altLang="zh-CN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905" y="4367530"/>
            <a:ext cx="1838960" cy="1483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8324215" y="6003290"/>
            <a:ext cx="26390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ctr" rtl="0" eaLnBrk="0"/>
            <a:r>
              <a:rPr lang="en-US" altLang="zh-CN"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Video Inspection Fixture</a:t>
            </a:r>
            <a:endParaRPr lang="en-US" altLang="zh-CN" sz="12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52295" y="2590165"/>
            <a:ext cx="870648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4500580" y="3068975"/>
            <a:ext cx="3409315" cy="1791950"/>
            <a:chOff x="1159400" y="3267730"/>
            <a:chExt cx="3409315" cy="1791950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1159400" y="4660900"/>
              <a:ext cx="3409315" cy="398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PACKAGING &amp; LOGISTICS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PART 05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CONTENTS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5. Packaging &amp; Logistics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1670" y="889000"/>
            <a:ext cx="48355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CPT Shanghai Lingang JLR IEO Warehouse</a:t>
            </a:r>
            <a:endParaRPr lang="en-US" altLang="zh-CN" sz="1400" b="1"/>
          </a:p>
          <a:p>
            <a:endParaRPr lang="en-US" altLang="zh-CN" sz="1400" b="1"/>
          </a:p>
        </p:txBody>
      </p:sp>
      <p:pic>
        <p:nvPicPr>
          <p:cNvPr id="3" name="图片 2" descr="仓库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3710" y="2134870"/>
            <a:ext cx="640080" cy="640080"/>
          </a:xfrm>
          <a:prstGeom prst="rect">
            <a:avLst/>
          </a:prstGeom>
        </p:spPr>
      </p:pic>
      <p:pic>
        <p:nvPicPr>
          <p:cNvPr id="8" name="图片 7" descr="飞机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3890" y="4647565"/>
            <a:ext cx="640080" cy="640080"/>
          </a:xfrm>
          <a:prstGeom prst="rect">
            <a:avLst/>
          </a:prstGeom>
        </p:spPr>
      </p:pic>
      <p:pic>
        <p:nvPicPr>
          <p:cNvPr id="9" name="图片 8" descr="轮船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37225" y="1774825"/>
            <a:ext cx="640080" cy="640080"/>
          </a:xfrm>
          <a:prstGeom prst="rect">
            <a:avLst/>
          </a:prstGeom>
        </p:spPr>
      </p:pic>
      <p:pic>
        <p:nvPicPr>
          <p:cNvPr id="10" name="图片 9" descr="工厂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55240" y="2954020"/>
            <a:ext cx="640080" cy="640080"/>
          </a:xfrm>
          <a:prstGeom prst="rect">
            <a:avLst/>
          </a:prstGeom>
        </p:spPr>
      </p:pic>
      <p:pic>
        <p:nvPicPr>
          <p:cNvPr id="12" name="图片 11" descr="工厂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04350" y="2926715"/>
            <a:ext cx="640080" cy="640080"/>
          </a:xfrm>
          <a:prstGeom prst="rect">
            <a:avLst/>
          </a:prstGeom>
        </p:spPr>
      </p:pic>
      <p:cxnSp>
        <p:nvCxnSpPr>
          <p:cNvPr id="15" name="直接箭头连接符 14"/>
          <p:cNvCxnSpPr>
            <a:stCxn id="3" idx="3"/>
            <a:endCxn id="29" idx="1"/>
          </p:cNvCxnSpPr>
          <p:nvPr>
            <p:custDataLst>
              <p:tags r:id="rId18"/>
            </p:custDataLst>
          </p:nvPr>
        </p:nvCxnSpPr>
        <p:spPr>
          <a:xfrm>
            <a:off x="4923790" y="2454910"/>
            <a:ext cx="22402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>
            <p:custDataLst>
              <p:tags r:id="rId19"/>
            </p:custDataLst>
          </p:nvPr>
        </p:nvCxnSpPr>
        <p:spPr>
          <a:xfrm flipV="1">
            <a:off x="3195320" y="2454910"/>
            <a:ext cx="1088390" cy="81915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6731635" y="3430905"/>
            <a:ext cx="2520315" cy="15843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图片 19" descr="卡车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04920" y="4135120"/>
            <a:ext cx="287020" cy="287020"/>
          </a:xfrm>
          <a:prstGeom prst="rect">
            <a:avLst/>
          </a:prstGeom>
        </p:spPr>
      </p:pic>
      <p:pic>
        <p:nvPicPr>
          <p:cNvPr id="21" name="图片 20" descr="卡车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811770" y="3241040"/>
            <a:ext cx="287020" cy="28702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2401570" y="3790950"/>
            <a:ext cx="1017905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Jinrong</a:t>
            </a:r>
            <a:endParaRPr lang="en-US" altLang="zh-CN" sz="1200"/>
          </a:p>
          <a:p>
            <a:pPr algn="ctr"/>
            <a:r>
              <a:rPr lang="en-US" altLang="zh-CN" sz="1200"/>
              <a:t>Shanghai</a:t>
            </a:r>
            <a:endParaRPr lang="en-US" altLang="zh-CN" sz="1200"/>
          </a:p>
          <a:p>
            <a:pPr algn="ctr"/>
            <a:r>
              <a:rPr lang="en-US" altLang="zh-CN" sz="1200"/>
              <a:t>Plant</a:t>
            </a:r>
            <a:endParaRPr lang="en-US" altLang="zh-CN" sz="1200"/>
          </a:p>
        </p:txBody>
      </p:sp>
      <p:cxnSp>
        <p:nvCxnSpPr>
          <p:cNvPr id="23" name="直接箭头连接符 22"/>
          <p:cNvCxnSpPr/>
          <p:nvPr>
            <p:custDataLst>
              <p:tags r:id="rId25"/>
            </p:custDataLst>
          </p:nvPr>
        </p:nvCxnSpPr>
        <p:spPr>
          <a:xfrm>
            <a:off x="3203575" y="3430905"/>
            <a:ext cx="2304415" cy="15119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图片 23" descr="卡车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27110" y="2566670"/>
            <a:ext cx="287020" cy="28702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9238615" y="3790950"/>
            <a:ext cx="1214120" cy="630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JLR Nitra Slovakia</a:t>
            </a:r>
            <a:endParaRPr lang="en-US" altLang="zh-CN" sz="1200"/>
          </a:p>
          <a:p>
            <a:pPr algn="ctr"/>
            <a:r>
              <a:rPr lang="en-US" altLang="zh-CN" sz="1200"/>
              <a:t>Plant</a:t>
            </a:r>
            <a:endParaRPr lang="en-US" altLang="zh-CN" sz="1200"/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3627755" y="2767965"/>
            <a:ext cx="2109470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JLR IEO Warehouse</a:t>
            </a:r>
            <a:endParaRPr lang="en-US" altLang="zh-CN" sz="1200"/>
          </a:p>
          <a:p>
            <a:pPr algn="ctr"/>
            <a:r>
              <a:rPr lang="en-US" altLang="zh-CN" sz="1200"/>
              <a:t>Shanghai Lingang</a:t>
            </a:r>
            <a:endParaRPr lang="en-US" altLang="zh-CN" sz="1200"/>
          </a:p>
        </p:txBody>
      </p:sp>
      <p:cxnSp>
        <p:nvCxnSpPr>
          <p:cNvPr id="27" name="直接箭头连接符 26"/>
          <p:cNvCxnSpPr>
            <a:stCxn id="29" idx="3"/>
            <a:endCxn id="12" idx="1"/>
          </p:cNvCxnSpPr>
          <p:nvPr>
            <p:custDataLst>
              <p:tags r:id="rId28"/>
            </p:custDataLst>
          </p:nvPr>
        </p:nvCxnSpPr>
        <p:spPr>
          <a:xfrm>
            <a:off x="7804150" y="2454910"/>
            <a:ext cx="1600200" cy="7918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卡车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91230" y="2350770"/>
            <a:ext cx="313690" cy="313690"/>
          </a:xfrm>
          <a:prstGeom prst="rect">
            <a:avLst/>
          </a:prstGeom>
        </p:spPr>
      </p:pic>
      <p:pic>
        <p:nvPicPr>
          <p:cNvPr id="29" name="图片 28" descr="仓库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070" y="2134870"/>
            <a:ext cx="640080" cy="640080"/>
          </a:xfrm>
          <a:prstGeom prst="rect">
            <a:avLst/>
          </a:prstGeom>
        </p:spPr>
      </p:pic>
      <p:cxnSp>
        <p:nvCxnSpPr>
          <p:cNvPr id="30" name="直接箭头连接符 29"/>
          <p:cNvCxnSpPr/>
          <p:nvPr>
            <p:custDataLst>
              <p:tags r:id="rId31"/>
            </p:custDataLst>
          </p:nvPr>
        </p:nvCxnSpPr>
        <p:spPr>
          <a:xfrm>
            <a:off x="3322320" y="3401060"/>
            <a:ext cx="1681480" cy="2984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32"/>
            </p:custDataLst>
          </p:nvPr>
        </p:nvSpPr>
        <p:spPr>
          <a:xfrm>
            <a:off x="6631940" y="2778125"/>
            <a:ext cx="1703705" cy="233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Logistics hub</a:t>
            </a:r>
            <a:endParaRPr lang="en-US" altLang="zh-CN" sz="1200"/>
          </a:p>
        </p:txBody>
      </p:sp>
      <p:pic>
        <p:nvPicPr>
          <p:cNvPr id="32" name="图片 31" descr="卡车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95420" y="3142615"/>
            <a:ext cx="313690" cy="313690"/>
          </a:xfrm>
          <a:prstGeom prst="rect">
            <a:avLst/>
          </a:prstGeom>
        </p:spPr>
      </p:pic>
      <p:pic>
        <p:nvPicPr>
          <p:cNvPr id="33" name="图片 32" descr="火车铁路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507990" y="2954020"/>
            <a:ext cx="914400" cy="914400"/>
          </a:xfrm>
          <a:prstGeom prst="rect">
            <a:avLst/>
          </a:prstGeom>
        </p:spPr>
      </p:pic>
      <p:cxnSp>
        <p:nvCxnSpPr>
          <p:cNvPr id="34" name="直接箭头连接符 33"/>
          <p:cNvCxnSpPr/>
          <p:nvPr>
            <p:custDataLst>
              <p:tags r:id="rId37"/>
            </p:custDataLst>
          </p:nvPr>
        </p:nvCxnSpPr>
        <p:spPr>
          <a:xfrm flipV="1">
            <a:off x="6632575" y="3502660"/>
            <a:ext cx="2403475" cy="2540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5" name="图片 34" descr="卡车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48625" y="4177030"/>
            <a:ext cx="287020" cy="28702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2327910" y="5824855"/>
            <a:ext cx="440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Pacakage</a:t>
            </a:r>
            <a:r>
              <a:rPr lang="en-US" altLang="zh-CN" dirty="0"/>
              <a:t>: Expendable Package</a:t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5. Packaging &amp; Logistics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1883410" y="1092835"/>
          <a:ext cx="8312785" cy="5539105"/>
        </p:xfrm>
        <a:graphic>
          <a:graphicData uri="http://schemas.openxmlformats.org/drawingml/2006/table">
            <a:tbl>
              <a:tblPr/>
              <a:tblGrid>
                <a:gridCol w="1538605"/>
                <a:gridCol w="1091565"/>
                <a:gridCol w="1114425"/>
                <a:gridCol w="1622425"/>
                <a:gridCol w="1454785"/>
                <a:gridCol w="1490980"/>
              </a:tblGrid>
              <a:tr h="226695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Packaging Specifications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Part basic information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Part Number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Z7B2-13A994-A-INS-01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Part Length(cm)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Part Width(cm)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Part Height(cm)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5.7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Part Weight(kg)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Type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Expendable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Transport Mode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Sea freight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Part Material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ABS/PA66/Steel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Effective From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Photograph/Sketch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12192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Part Images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Open Box with Parts &amp; Dunnage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Primary Packaging photo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75995">
                <a:tc gridSpan="2">
                  <a:txBody>
                    <a:bodyPr/>
                    <a:lstStyle/>
                    <a:p>
                      <a:endParaRPr sz="1000"/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sz="1000"/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2319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External Packaging Images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Complete Unit Load /Pallet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Additional Images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784225">
                <a:tc gridSpan="2"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Primary Packaging - Individual Container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Material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PE bag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Tare Weight 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0.45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Total weight(kg)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0.46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length(cm)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width(cm)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height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0.04mm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No. of Containers per Layer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No. of Layers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QPC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Second Packaging - External container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Material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carton box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Tare Weight 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Total weight(kg)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length(cm)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width(cm)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Package height(cm)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No. of Containers per Layer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No. of Layers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Density:  (parts/carton)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Cube Packaging Information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Pallet Type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four way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Pallet Element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wood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Banding Type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Stretch-Film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Pallet Length(cm)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Pallet Width(cm)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Pallet height(cm)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Cartons per Layer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Layers per Pallet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Density:  (parts/pallet)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Additional Comments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图片_2"/>
          <p:cNvPicPr/>
          <p:nvPr/>
        </p:nvPicPr>
        <p:blipFill>
          <a:blip r:embed="rId4"/>
          <a:stretch>
            <a:fillRect/>
          </a:stretch>
        </p:blipFill>
        <p:spPr>
          <a:xfrm>
            <a:off x="4735830" y="2828290"/>
            <a:ext cx="2268220" cy="2298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260" y="2504440"/>
            <a:ext cx="961390" cy="890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560" y="3604895"/>
            <a:ext cx="1240790" cy="6743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rcRect t="24066" r="-2512"/>
          <a:stretch>
            <a:fillRect/>
          </a:stretch>
        </p:blipFill>
        <p:spPr>
          <a:xfrm>
            <a:off x="2198370" y="2504440"/>
            <a:ext cx="2098675" cy="84709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8"/>
          <a:stretch>
            <a:fillRect/>
          </a:stretch>
        </p:blipFill>
        <p:spPr>
          <a:xfrm>
            <a:off x="2628265" y="3611880"/>
            <a:ext cx="1117600" cy="668020"/>
          </a:xfrm>
          <a:prstGeom prst="rect">
            <a:avLst/>
          </a:prstGeom>
        </p:spPr>
      </p:pic>
      <p:pic>
        <p:nvPicPr>
          <p:cNvPr id="12" name="图片 11" descr="ai_picture_ai_change_1783316024702"/>
          <p:cNvPicPr/>
          <p:nvPr>
            <p:custDataLst>
              <p:tags r:id="rId9"/>
            </p:custDataLst>
          </p:nvPr>
        </p:nvPicPr>
        <p:blipFill>
          <a:blip r:embed="rId10"/>
          <a:srcRect l="518" r="518"/>
          <a:stretch>
            <a:fillRect/>
          </a:stretch>
        </p:blipFill>
        <p:spPr>
          <a:xfrm>
            <a:off x="5516245" y="3604895"/>
            <a:ext cx="70675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42770" y="2590165"/>
            <a:ext cx="399351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446378" y="3068975"/>
            <a:ext cx="2952115" cy="1791950"/>
            <a:chOff x="1388023" y="3267730"/>
            <a:chExt cx="2952115" cy="1791950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2015698" y="4660900"/>
              <a:ext cx="1696720" cy="398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VALIDATION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PART 06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CONTENTS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9505" y="3809365"/>
            <a:ext cx="4064000" cy="6527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6.1 DVP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630" y="367030"/>
            <a:ext cx="1118933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6.1 DVP 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-Performance Requirements of Non-Decorated Plastics - component level tests</a:t>
            </a:r>
            <a:endParaRPr lang="en-US" altLang="zh-CN" sz="2000" b="1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51510" y="1256538"/>
          <a:ext cx="10972800" cy="2067558"/>
        </p:xfrm>
        <a:graphic>
          <a:graphicData uri="http://schemas.openxmlformats.org/drawingml/2006/table">
            <a:tbl>
              <a:tblPr/>
              <a:tblGrid>
                <a:gridCol w="1500505"/>
                <a:gridCol w="60325"/>
                <a:gridCol w="396240"/>
                <a:gridCol w="396240"/>
                <a:gridCol w="396240"/>
                <a:gridCol w="438150"/>
                <a:gridCol w="648335"/>
                <a:gridCol w="588645"/>
                <a:gridCol w="588010"/>
                <a:gridCol w="588645"/>
                <a:gridCol w="389890"/>
                <a:gridCol w="389890"/>
                <a:gridCol w="390525"/>
                <a:gridCol w="389890"/>
                <a:gridCol w="389890"/>
                <a:gridCol w="390525"/>
                <a:gridCol w="389890"/>
                <a:gridCol w="389890"/>
                <a:gridCol w="480695"/>
                <a:gridCol w="389890"/>
                <a:gridCol w="389890"/>
                <a:gridCol w="600710"/>
                <a:gridCol w="389890"/>
              </a:tblGrid>
              <a:tr h="226695"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21">
                  <a:txBody>
                    <a:bodyPr/>
                    <a:lstStyle/>
                    <a:p>
                      <a:pPr algn="ctr" fontAlgn="b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Material Tests (plaques)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 plaques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Duration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 days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week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 weeks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 weeks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 weeks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 days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 days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 day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 days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 days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Test Name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Resistance to Weathering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Micro-scratch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Scratch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Heat Age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Fluid Spotting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Fluid Spotting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Resistance of Interior Trim 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 Perspiration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Fogging - Gravimetric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Odour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VIAQ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VOC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Test Method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SAE J2412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TPJLR.52.009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TPJLR.52.008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TPJLR.52.010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TPJLR.52.352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TPJLR.52.155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TPJLR.52.155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TPJLR.52.156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SAE J1976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VDA 270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TPJLR.52.104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VDA277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Description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110 kJ/m²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220 kJ/m²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440 kJ/m²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1430 kJ/m²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Method A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Grained only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500 hrs colour assessment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Water 23 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º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Soap 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 ºC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Water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60 ºC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Soap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60 ºC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Water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Salt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Acid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Alkali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40C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80C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Component Level Status/Report - Materials Engineering Comment</a:t>
                      </a:r>
                      <a:b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GS 4 min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GS 3/4 min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High gloss only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No scratch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dL +0.5 max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dG 1.0 max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GS 4 min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GS 4 min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GS 4 min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GS 4 min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Meet requirements of STJLR.51.5229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JLR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JLR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JLR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JLR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567055" y="3429000"/>
          <a:ext cx="11204575" cy="1973576"/>
        </p:xfrm>
        <a:graphic>
          <a:graphicData uri="http://schemas.openxmlformats.org/drawingml/2006/table">
            <a:tbl>
              <a:tblPr/>
              <a:tblGrid>
                <a:gridCol w="2783205"/>
                <a:gridCol w="111760"/>
                <a:gridCol w="1124585"/>
                <a:gridCol w="1046480"/>
                <a:gridCol w="1279525"/>
                <a:gridCol w="1091565"/>
                <a:gridCol w="1225550"/>
                <a:gridCol w="1201420"/>
                <a:gridCol w="1340485"/>
              </a:tblGrid>
              <a:tr h="280670"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Component Tests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fontAlgn="b"/>
                      <a:endParaRPr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Duration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 days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 days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 days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 day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 day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 days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 days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Test Name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Assembly  Test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Hygroscopic materials only - Assembly Test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Grained only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Parts wth Metal fixings only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Test Method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TPJLR.52.353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TPJLR.52.352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TPJLR.52.351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TPJLR.52.008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See STJLR.00.5235 for details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Description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Accelerated Environmental Ageing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Resistance to Heat Ageing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Resistance to Humidity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Scratch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Corrosion - 72 hrs humidity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Cyclic Corrosion - 4 cycles for wet areas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Component Level Status/Report - Materials Engineering Comment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168 hrs Assess for distortion etc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dL +0.5 max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dG = 0.6 max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Supplier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Supplier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Supplier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Supplier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67055" y="5694045"/>
            <a:ext cx="9552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Test evaluation completed; no issues detected.</a:t>
            </a:r>
            <a:endParaRPr lang="en-US" altLang="zh-CN"/>
          </a:p>
          <a:p>
            <a:r>
              <a:rPr lang="en-US" altLang="zh-CN">
                <a:highlight>
                  <a:srgbClr val="FFFF00"/>
                </a:highlight>
              </a:rPr>
              <a:t>Question: The tests not indicated RASIC are done by JLR or JINRONG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5"/>
          <p:cNvSpPr/>
          <p:nvPr>
            <p:custDataLst>
              <p:tags r:id="rId1"/>
            </p:custDataLst>
          </p:nvPr>
        </p:nvSpPr>
        <p:spPr>
          <a:xfrm>
            <a:off x="-30821" y="-23314"/>
            <a:ext cx="12231673" cy="6881586"/>
          </a:xfrm>
          <a:prstGeom prst="rect">
            <a:avLst/>
          </a:prstGeom>
          <a:gradFill>
            <a:gsLst>
              <a:gs pos="100000">
                <a:srgbClr val="061A64"/>
              </a:gs>
              <a:gs pos="0">
                <a:srgbClr val="061A6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" name="PA-组合 2"/>
          <p:cNvGrpSpPr/>
          <p:nvPr>
            <p:custDataLst>
              <p:tags r:id="rId2"/>
            </p:custDataLst>
          </p:nvPr>
        </p:nvGrpSpPr>
        <p:grpSpPr>
          <a:xfrm>
            <a:off x="213569" y="-252713"/>
            <a:ext cx="3092998" cy="3920755"/>
            <a:chOff x="-10047009" y="6683958"/>
            <a:chExt cx="3449347" cy="4372472"/>
          </a:xfrm>
        </p:grpSpPr>
        <p:sp>
          <p:nvSpPr>
            <p:cNvPr id="4" name="PA-圆角矩形 3"/>
            <p:cNvSpPr/>
            <p:nvPr>
              <p:custDataLst>
                <p:tags r:id="rId3"/>
              </p:custDataLst>
            </p:nvPr>
          </p:nvSpPr>
          <p:spPr>
            <a:xfrm>
              <a:off x="-9195285" y="6683958"/>
              <a:ext cx="1747321" cy="1747321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" name="PA-圆角矩形 4"/>
            <p:cNvSpPr/>
            <p:nvPr>
              <p:custDataLst>
                <p:tags r:id="rId4"/>
              </p:custDataLst>
            </p:nvPr>
          </p:nvSpPr>
          <p:spPr>
            <a:xfrm>
              <a:off x="-9526285" y="9753107"/>
              <a:ext cx="1303323" cy="1303323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" name="PA-圆角矩形 6"/>
            <p:cNvSpPr/>
            <p:nvPr>
              <p:custDataLst>
                <p:tags r:id="rId5"/>
              </p:custDataLst>
            </p:nvPr>
          </p:nvSpPr>
          <p:spPr>
            <a:xfrm>
              <a:off x="-7491331" y="8344206"/>
              <a:ext cx="893669" cy="893669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PA-圆角矩形 11"/>
            <p:cNvSpPr/>
            <p:nvPr>
              <p:custDataLst>
                <p:tags r:id="rId6"/>
              </p:custDataLst>
            </p:nvPr>
          </p:nvSpPr>
          <p:spPr>
            <a:xfrm>
              <a:off x="-8435401" y="9237875"/>
              <a:ext cx="987437" cy="987437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" name="PA-圆角矩形 12"/>
            <p:cNvSpPr/>
            <p:nvPr>
              <p:custDataLst>
                <p:tags r:id="rId7"/>
              </p:custDataLst>
            </p:nvPr>
          </p:nvSpPr>
          <p:spPr>
            <a:xfrm>
              <a:off x="-10047009" y="8811491"/>
              <a:ext cx="1303323" cy="1303323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" name="PA-圆角矩形 13"/>
            <p:cNvSpPr/>
            <p:nvPr>
              <p:custDataLst>
                <p:tags r:id="rId8"/>
              </p:custDataLst>
            </p:nvPr>
          </p:nvSpPr>
          <p:spPr>
            <a:xfrm>
              <a:off x="-9453073" y="8146920"/>
              <a:ext cx="433608" cy="433608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5" name="PA-圆角矩形 14"/>
          <p:cNvSpPr/>
          <p:nvPr>
            <p:custDataLst>
              <p:tags r:id="rId9"/>
            </p:custDataLst>
          </p:nvPr>
        </p:nvSpPr>
        <p:spPr>
          <a:xfrm>
            <a:off x="1588397" y="4158553"/>
            <a:ext cx="1437506" cy="1437506"/>
          </a:xfrm>
          <a:prstGeom prst="roundRect">
            <a:avLst>
              <a:gd name="adj" fmla="val 6636"/>
            </a:avLst>
          </a:prstGeom>
          <a:solidFill>
            <a:schemeClr val="bg1">
              <a:alpha val="8000"/>
            </a:schemeClr>
          </a:solidFill>
          <a:ln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5" name="PA-圆角矩形 24"/>
          <p:cNvSpPr/>
          <p:nvPr>
            <p:custDataLst>
              <p:tags r:id="rId10"/>
            </p:custDataLst>
          </p:nvPr>
        </p:nvSpPr>
        <p:spPr>
          <a:xfrm>
            <a:off x="10210505" y="4622687"/>
            <a:ext cx="619057" cy="619057"/>
          </a:xfrm>
          <a:prstGeom prst="roundRect">
            <a:avLst>
              <a:gd name="adj" fmla="val 6636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6" name="PA-圆角矩形 25"/>
          <p:cNvSpPr/>
          <p:nvPr>
            <p:custDataLst>
              <p:tags r:id="rId11"/>
            </p:custDataLst>
          </p:nvPr>
        </p:nvSpPr>
        <p:spPr>
          <a:xfrm>
            <a:off x="10630329" y="5023721"/>
            <a:ext cx="398466" cy="398466"/>
          </a:xfrm>
          <a:prstGeom prst="roundRect">
            <a:avLst>
              <a:gd name="adj" fmla="val 6636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7" name="PA-圆角矩形 26"/>
          <p:cNvSpPr/>
          <p:nvPr>
            <p:custDataLst>
              <p:tags r:id="rId12"/>
            </p:custDataLst>
          </p:nvPr>
        </p:nvSpPr>
        <p:spPr>
          <a:xfrm>
            <a:off x="10399847" y="3984681"/>
            <a:ext cx="1437506" cy="1437506"/>
          </a:xfrm>
          <a:prstGeom prst="roundRect">
            <a:avLst>
              <a:gd name="adj" fmla="val 6636"/>
            </a:avLst>
          </a:prstGeom>
          <a:solidFill>
            <a:schemeClr val="bg1">
              <a:alpha val="8000"/>
            </a:schemeClr>
          </a:solidFill>
          <a:ln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0" name="PA-图片 2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4856218"/>
            <a:ext cx="7431314" cy="2001783"/>
          </a:xfrm>
          <a:custGeom>
            <a:avLst/>
            <a:gdLst>
              <a:gd name="connsiteX0" fmla="*/ 0 w 6796088"/>
              <a:gd name="connsiteY0" fmla="*/ 0 h 2001783"/>
              <a:gd name="connsiteX1" fmla="*/ 6796088 w 6796088"/>
              <a:gd name="connsiteY1" fmla="*/ 0 h 2001783"/>
              <a:gd name="connsiteX2" fmla="*/ 6796088 w 6796088"/>
              <a:gd name="connsiteY2" fmla="*/ 2001783 h 2001783"/>
              <a:gd name="connsiteX3" fmla="*/ 0 w 6796088"/>
              <a:gd name="connsiteY3" fmla="*/ 2001783 h 200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6088" h="2001783">
                <a:moveTo>
                  <a:pt x="0" y="0"/>
                </a:moveTo>
                <a:lnTo>
                  <a:pt x="6796088" y="0"/>
                </a:lnTo>
                <a:lnTo>
                  <a:pt x="6796088" y="2001783"/>
                </a:lnTo>
                <a:lnTo>
                  <a:pt x="0" y="2001783"/>
                </a:lnTo>
                <a:close/>
              </a:path>
            </a:pathLst>
          </a:custGeom>
        </p:spPr>
      </p:pic>
      <p:pic>
        <p:nvPicPr>
          <p:cNvPr id="2" name="PA-图片 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38689">
            <a:off x="6862656" y="2011494"/>
            <a:ext cx="6204422" cy="5910376"/>
          </a:xfrm>
          <a:prstGeom prst="rect">
            <a:avLst/>
          </a:prstGeom>
        </p:spPr>
      </p:pic>
      <p:cxnSp>
        <p:nvCxnSpPr>
          <p:cNvPr id="10" name="PA-直接连接符 9"/>
          <p:cNvCxnSpPr/>
          <p:nvPr>
            <p:custDataLst>
              <p:tags r:id="rId19"/>
            </p:custDataLst>
          </p:nvPr>
        </p:nvCxnSpPr>
        <p:spPr>
          <a:xfrm>
            <a:off x="801625" y="3733800"/>
            <a:ext cx="661618" cy="0"/>
          </a:xfrm>
          <a:prstGeom prst="line">
            <a:avLst/>
          </a:prstGeom>
          <a:ln w="12700">
            <a:solidFill>
              <a:srgbClr val="6184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-文本框 7"/>
          <p:cNvSpPr txBox="1"/>
          <p:nvPr>
            <p:custDataLst>
              <p:tags r:id="rId20"/>
            </p:custDataLst>
          </p:nvPr>
        </p:nvSpPr>
        <p:spPr>
          <a:xfrm>
            <a:off x="685800" y="2133601"/>
            <a:ext cx="8607550" cy="152400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91433" tIns="45716" rIns="91433" bIns="45716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charset="-122"/>
                <a:cs typeface="+mn-ea"/>
                <a:sym typeface="+mn-lt"/>
              </a:rPr>
              <a:t>THANK YOU</a:t>
            </a:r>
            <a:r>
              <a:rPr kumimoji="0" lang="zh-CN" altLang="en-US" sz="88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charset="-122"/>
                <a:cs typeface="+mn-ea"/>
                <a:sym typeface="+mn-lt"/>
              </a:rPr>
              <a:t>！</a:t>
            </a:r>
            <a:endParaRPr kumimoji="0" lang="en-US" altLang="zh-CN" sz="8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charset="0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20" name="PA-组合 19"/>
          <p:cNvGrpSpPr/>
          <p:nvPr>
            <p:custDataLst>
              <p:tags r:id="rId21"/>
            </p:custDataLst>
          </p:nvPr>
        </p:nvGrpSpPr>
        <p:grpSpPr>
          <a:xfrm>
            <a:off x="1295400" y="4038600"/>
            <a:ext cx="4928505" cy="484573"/>
            <a:chOff x="1472081" y="4254044"/>
            <a:chExt cx="4928505" cy="484573"/>
          </a:xfrm>
        </p:grpSpPr>
        <p:sp>
          <p:nvSpPr>
            <p:cNvPr id="11" name="PA-文本框 10"/>
            <p:cNvSpPr txBox="1"/>
            <p:nvPr>
              <p:custDataLst>
                <p:tags r:id="rId22"/>
              </p:custDataLst>
            </p:nvPr>
          </p:nvSpPr>
          <p:spPr>
            <a:xfrm>
              <a:off x="1472081" y="4254044"/>
              <a:ext cx="2235371" cy="3069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Company Address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6" name="PA-文本框 15"/>
            <p:cNvSpPr txBox="1"/>
            <p:nvPr>
              <p:custDataLst>
                <p:tags r:id="rId23"/>
              </p:custDataLst>
            </p:nvPr>
          </p:nvSpPr>
          <p:spPr>
            <a:xfrm>
              <a:off x="1472081" y="4492652"/>
              <a:ext cx="4928505" cy="245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No. 58, Lane 2400, Baoan Highway, Baoshan District. Shanghal, China 201907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1" name="PA-图形 61"/>
          <p:cNvSpPr/>
          <p:nvPr>
            <p:custDataLst>
              <p:tags r:id="rId24"/>
            </p:custDataLst>
          </p:nvPr>
        </p:nvSpPr>
        <p:spPr>
          <a:xfrm>
            <a:off x="885320" y="4114800"/>
            <a:ext cx="228600" cy="266656"/>
          </a:xfrm>
          <a:custGeom>
            <a:avLst/>
            <a:gdLst>
              <a:gd name="connsiteX0" fmla="*/ 700050 w 1400100"/>
              <a:gd name="connsiteY0" fmla="*/ 933338 h 1633202"/>
              <a:gd name="connsiteX1" fmla="*/ 933338 w 1400100"/>
              <a:gd name="connsiteY1" fmla="*/ 700050 h 1633202"/>
              <a:gd name="connsiteX2" fmla="*/ 700050 w 1400100"/>
              <a:gd name="connsiteY2" fmla="*/ 466762 h 1633202"/>
              <a:gd name="connsiteX3" fmla="*/ 466762 w 1400100"/>
              <a:gd name="connsiteY3" fmla="*/ 700050 h 1633202"/>
              <a:gd name="connsiteX4" fmla="*/ 700050 w 1400100"/>
              <a:gd name="connsiteY4" fmla="*/ 933338 h 1633202"/>
              <a:gd name="connsiteX5" fmla="*/ 700050 w 1400100"/>
              <a:gd name="connsiteY5" fmla="*/ 1633203 h 1633202"/>
              <a:gd name="connsiteX6" fmla="*/ 0 w 1400100"/>
              <a:gd name="connsiteY6" fmla="*/ 700050 h 1633202"/>
              <a:gd name="connsiteX7" fmla="*/ 700050 w 1400100"/>
              <a:gd name="connsiteY7" fmla="*/ 0 h 1633202"/>
              <a:gd name="connsiteX8" fmla="*/ 1400101 w 1400100"/>
              <a:gd name="connsiteY8" fmla="*/ 700050 h 1633202"/>
              <a:gd name="connsiteX9" fmla="*/ 700050 w 1400100"/>
              <a:gd name="connsiteY9" fmla="*/ 1633203 h 1633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00100" h="1633202">
                <a:moveTo>
                  <a:pt x="700050" y="933338"/>
                </a:moveTo>
                <a:cubicBezTo>
                  <a:pt x="828973" y="933338"/>
                  <a:pt x="933338" y="828787"/>
                  <a:pt x="933338" y="700050"/>
                </a:cubicBezTo>
                <a:cubicBezTo>
                  <a:pt x="933338" y="571314"/>
                  <a:pt x="828787" y="466762"/>
                  <a:pt x="700050" y="466762"/>
                </a:cubicBezTo>
                <a:cubicBezTo>
                  <a:pt x="571314" y="466762"/>
                  <a:pt x="466762" y="571128"/>
                  <a:pt x="466762" y="700050"/>
                </a:cubicBezTo>
                <a:cubicBezTo>
                  <a:pt x="466762" y="828973"/>
                  <a:pt x="571128" y="933338"/>
                  <a:pt x="700050" y="933338"/>
                </a:cubicBezTo>
                <a:close/>
                <a:moveTo>
                  <a:pt x="700050" y="1633203"/>
                </a:moveTo>
                <a:cubicBezTo>
                  <a:pt x="233474" y="1268760"/>
                  <a:pt x="0" y="957709"/>
                  <a:pt x="0" y="700050"/>
                </a:cubicBezTo>
                <a:cubicBezTo>
                  <a:pt x="0" y="313469"/>
                  <a:pt x="313469" y="0"/>
                  <a:pt x="700050" y="0"/>
                </a:cubicBezTo>
                <a:cubicBezTo>
                  <a:pt x="1086631" y="0"/>
                  <a:pt x="1400101" y="313469"/>
                  <a:pt x="1400101" y="700050"/>
                </a:cubicBezTo>
                <a:cubicBezTo>
                  <a:pt x="1400101" y="957709"/>
                  <a:pt x="1166626" y="1268760"/>
                  <a:pt x="700050" y="1633203"/>
                </a:cubicBezTo>
                <a:close/>
              </a:path>
            </a:pathLst>
          </a:custGeom>
          <a:solidFill>
            <a:srgbClr val="6184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64008" tIns="32004" rIns="64008" bIns="3200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95400" y="4495800"/>
            <a:ext cx="6690166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Presented by: 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Yang WANG | Tracy Wang</a:t>
            </a:r>
            <a:endParaRPr kumimoji="0" lang="en-US" altLang="zh-CN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Mobile: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 +86 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18516530077 |</a:t>
            </a:r>
            <a:r>
              <a:rPr lang="zh-CN" altLang="en-US" sz="1400" b="1" kern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ea"/>
              </a:rPr>
              <a:t> +86 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15921853685</a:t>
            </a:r>
            <a:endParaRPr kumimoji="0" lang="en-US" altLang="zh-CN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Email: 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wangyang@jinronggroup.cn | tracy@jinronggroup.cn</a:t>
            </a:r>
            <a:endParaRPr kumimoji="0" lang="en-US" altLang="zh-CN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9" name="new-email-envelope_20520"/>
          <p:cNvSpPr/>
          <p:nvPr/>
        </p:nvSpPr>
        <p:spPr>
          <a:xfrm>
            <a:off x="896360" y="5562600"/>
            <a:ext cx="246640" cy="180229"/>
          </a:xfrm>
          <a:custGeom>
            <a:avLst/>
            <a:gdLst>
              <a:gd name="connsiteX0" fmla="*/ 218748 w 607427"/>
              <a:gd name="connsiteY0" fmla="*/ 211767 h 379713"/>
              <a:gd name="connsiteX1" fmla="*/ 303678 w 607427"/>
              <a:gd name="connsiteY1" fmla="*/ 286283 h 379713"/>
              <a:gd name="connsiteX2" fmla="*/ 388608 w 607427"/>
              <a:gd name="connsiteY2" fmla="*/ 211767 h 379713"/>
              <a:gd name="connsiteX3" fmla="*/ 580118 w 607427"/>
              <a:gd name="connsiteY3" fmla="*/ 379713 h 379713"/>
              <a:gd name="connsiteX4" fmla="*/ 27238 w 607427"/>
              <a:gd name="connsiteY4" fmla="*/ 379713 h 379713"/>
              <a:gd name="connsiteX5" fmla="*/ 607427 w 607427"/>
              <a:gd name="connsiteY5" fmla="*/ 19970 h 379713"/>
              <a:gd name="connsiteX6" fmla="*/ 607427 w 607427"/>
              <a:gd name="connsiteY6" fmla="*/ 359531 h 379713"/>
              <a:gd name="connsiteX7" fmla="*/ 413725 w 607427"/>
              <a:gd name="connsiteY7" fmla="*/ 189751 h 379713"/>
              <a:gd name="connsiteX8" fmla="*/ 0 w 607427"/>
              <a:gd name="connsiteY8" fmla="*/ 19970 h 379713"/>
              <a:gd name="connsiteX9" fmla="*/ 193561 w 607427"/>
              <a:gd name="connsiteY9" fmla="*/ 189751 h 379713"/>
              <a:gd name="connsiteX10" fmla="*/ 0 w 607427"/>
              <a:gd name="connsiteY10" fmla="*/ 359531 h 379713"/>
              <a:gd name="connsiteX11" fmla="*/ 27379 w 607427"/>
              <a:gd name="connsiteY11" fmla="*/ 0 h 379713"/>
              <a:gd name="connsiteX12" fmla="*/ 579906 w 607427"/>
              <a:gd name="connsiteY12" fmla="*/ 0 h 379713"/>
              <a:gd name="connsiteX13" fmla="*/ 303694 w 607427"/>
              <a:gd name="connsiteY13" fmla="*/ 242251 h 37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07427" h="379713">
                <a:moveTo>
                  <a:pt x="218748" y="211767"/>
                </a:moveTo>
                <a:lnTo>
                  <a:pt x="303678" y="286283"/>
                </a:lnTo>
                <a:lnTo>
                  <a:pt x="388608" y="211767"/>
                </a:lnTo>
                <a:lnTo>
                  <a:pt x="580118" y="379713"/>
                </a:lnTo>
                <a:lnTo>
                  <a:pt x="27238" y="379713"/>
                </a:lnTo>
                <a:close/>
                <a:moveTo>
                  <a:pt x="607427" y="19970"/>
                </a:moveTo>
                <a:lnTo>
                  <a:pt x="607427" y="359531"/>
                </a:lnTo>
                <a:lnTo>
                  <a:pt x="413725" y="189751"/>
                </a:lnTo>
                <a:close/>
                <a:moveTo>
                  <a:pt x="0" y="19970"/>
                </a:moveTo>
                <a:lnTo>
                  <a:pt x="193561" y="189751"/>
                </a:lnTo>
                <a:lnTo>
                  <a:pt x="0" y="359531"/>
                </a:lnTo>
                <a:close/>
                <a:moveTo>
                  <a:pt x="27379" y="0"/>
                </a:moveTo>
                <a:lnTo>
                  <a:pt x="579906" y="0"/>
                </a:lnTo>
                <a:lnTo>
                  <a:pt x="303694" y="242251"/>
                </a:lnTo>
                <a:close/>
              </a:path>
            </a:pathLst>
          </a:custGeom>
          <a:solidFill>
            <a:srgbClr val="6184D1"/>
          </a:soli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117958" tIns="58979" rIns="117958" bIns="58979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19" name="phone_134744"/>
          <p:cNvSpPr/>
          <p:nvPr/>
        </p:nvSpPr>
        <p:spPr>
          <a:xfrm>
            <a:off x="891803" y="5105400"/>
            <a:ext cx="215635" cy="210643"/>
          </a:xfrm>
          <a:custGeom>
            <a:avLst/>
            <a:gdLst>
              <a:gd name="T0" fmla="*/ 722 w 735"/>
              <a:gd name="T1" fmla="*/ 545 h 719"/>
              <a:gd name="T2" fmla="*/ 598 w 735"/>
              <a:gd name="T3" fmla="*/ 438 h 719"/>
              <a:gd name="T4" fmla="*/ 562 w 735"/>
              <a:gd name="T5" fmla="*/ 427 h 719"/>
              <a:gd name="T6" fmla="*/ 521 w 735"/>
              <a:gd name="T7" fmla="*/ 450 h 719"/>
              <a:gd name="T8" fmla="*/ 487 w 735"/>
              <a:gd name="T9" fmla="*/ 488 h 719"/>
              <a:gd name="T10" fmla="*/ 403 w 735"/>
              <a:gd name="T11" fmla="*/ 479 h 719"/>
              <a:gd name="T12" fmla="*/ 250 w 735"/>
              <a:gd name="T13" fmla="*/ 326 h 719"/>
              <a:gd name="T14" fmla="*/ 241 w 735"/>
              <a:gd name="T15" fmla="*/ 242 h 719"/>
              <a:gd name="T16" fmla="*/ 280 w 735"/>
              <a:gd name="T17" fmla="*/ 208 h 719"/>
              <a:gd name="T18" fmla="*/ 300 w 735"/>
              <a:gd name="T19" fmla="*/ 181 h 719"/>
              <a:gd name="T20" fmla="*/ 292 w 735"/>
              <a:gd name="T21" fmla="*/ 131 h 719"/>
              <a:gd name="T22" fmla="*/ 184 w 735"/>
              <a:gd name="T23" fmla="*/ 8 h 719"/>
              <a:gd name="T24" fmla="*/ 153 w 735"/>
              <a:gd name="T25" fmla="*/ 0 h 719"/>
              <a:gd name="T26" fmla="*/ 107 w 735"/>
              <a:gd name="T27" fmla="*/ 19 h 719"/>
              <a:gd name="T28" fmla="*/ 73 w 735"/>
              <a:gd name="T29" fmla="*/ 53 h 719"/>
              <a:gd name="T30" fmla="*/ 15 w 735"/>
              <a:gd name="T31" fmla="*/ 233 h 719"/>
              <a:gd name="T32" fmla="*/ 125 w 735"/>
              <a:gd name="T33" fmla="*/ 408 h 719"/>
              <a:gd name="T34" fmla="*/ 322 w 735"/>
              <a:gd name="T35" fmla="*/ 604 h 719"/>
              <a:gd name="T36" fmla="*/ 539 w 735"/>
              <a:gd name="T37" fmla="*/ 719 h 719"/>
              <a:gd name="T38" fmla="*/ 539 w 735"/>
              <a:gd name="T39" fmla="*/ 719 h 719"/>
              <a:gd name="T40" fmla="*/ 676 w 735"/>
              <a:gd name="T41" fmla="*/ 657 h 719"/>
              <a:gd name="T42" fmla="*/ 710 w 735"/>
              <a:gd name="T43" fmla="*/ 623 h 719"/>
              <a:gd name="T44" fmla="*/ 722 w 735"/>
              <a:gd name="T45" fmla="*/ 545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35" h="719">
                <a:moveTo>
                  <a:pt x="722" y="545"/>
                </a:moveTo>
                <a:cubicBezTo>
                  <a:pt x="695" y="495"/>
                  <a:pt x="602" y="440"/>
                  <a:pt x="598" y="438"/>
                </a:cubicBezTo>
                <a:cubicBezTo>
                  <a:pt x="586" y="431"/>
                  <a:pt x="573" y="427"/>
                  <a:pt x="562" y="427"/>
                </a:cubicBezTo>
                <a:cubicBezTo>
                  <a:pt x="544" y="427"/>
                  <a:pt x="530" y="435"/>
                  <a:pt x="521" y="450"/>
                </a:cubicBezTo>
                <a:cubicBezTo>
                  <a:pt x="508" y="466"/>
                  <a:pt x="491" y="485"/>
                  <a:pt x="487" y="488"/>
                </a:cubicBezTo>
                <a:cubicBezTo>
                  <a:pt x="455" y="509"/>
                  <a:pt x="430" y="507"/>
                  <a:pt x="403" y="479"/>
                </a:cubicBezTo>
                <a:lnTo>
                  <a:pt x="250" y="326"/>
                </a:lnTo>
                <a:cubicBezTo>
                  <a:pt x="223" y="299"/>
                  <a:pt x="220" y="274"/>
                  <a:pt x="241" y="242"/>
                </a:cubicBezTo>
                <a:cubicBezTo>
                  <a:pt x="244" y="238"/>
                  <a:pt x="263" y="221"/>
                  <a:pt x="280" y="208"/>
                </a:cubicBezTo>
                <a:cubicBezTo>
                  <a:pt x="290" y="202"/>
                  <a:pt x="297" y="192"/>
                  <a:pt x="300" y="181"/>
                </a:cubicBezTo>
                <a:cubicBezTo>
                  <a:pt x="304" y="166"/>
                  <a:pt x="301" y="149"/>
                  <a:pt x="292" y="131"/>
                </a:cubicBezTo>
                <a:cubicBezTo>
                  <a:pt x="289" y="127"/>
                  <a:pt x="234" y="34"/>
                  <a:pt x="184" y="8"/>
                </a:cubicBezTo>
                <a:cubicBezTo>
                  <a:pt x="174" y="3"/>
                  <a:pt x="164" y="0"/>
                  <a:pt x="153" y="0"/>
                </a:cubicBezTo>
                <a:cubicBezTo>
                  <a:pt x="135" y="0"/>
                  <a:pt x="119" y="7"/>
                  <a:pt x="107" y="19"/>
                </a:cubicBezTo>
                <a:lnTo>
                  <a:pt x="73" y="53"/>
                </a:lnTo>
                <a:cubicBezTo>
                  <a:pt x="19" y="107"/>
                  <a:pt x="0" y="167"/>
                  <a:pt x="15" y="233"/>
                </a:cubicBezTo>
                <a:cubicBezTo>
                  <a:pt x="28" y="289"/>
                  <a:pt x="65" y="347"/>
                  <a:pt x="125" y="408"/>
                </a:cubicBezTo>
                <a:lnTo>
                  <a:pt x="322" y="604"/>
                </a:lnTo>
                <a:cubicBezTo>
                  <a:pt x="398" y="680"/>
                  <a:pt x="471" y="719"/>
                  <a:pt x="539" y="719"/>
                </a:cubicBezTo>
                <a:lnTo>
                  <a:pt x="539" y="719"/>
                </a:lnTo>
                <a:cubicBezTo>
                  <a:pt x="588" y="719"/>
                  <a:pt x="634" y="698"/>
                  <a:pt x="676" y="657"/>
                </a:cubicBezTo>
                <a:lnTo>
                  <a:pt x="710" y="623"/>
                </a:lnTo>
                <a:cubicBezTo>
                  <a:pt x="730" y="602"/>
                  <a:pt x="735" y="571"/>
                  <a:pt x="722" y="545"/>
                </a:cubicBezTo>
                <a:close/>
              </a:path>
            </a:pathLst>
          </a:custGeom>
          <a:solidFill>
            <a:srgbClr val="6184D1"/>
          </a:soli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117958" tIns="58979" rIns="117958" bIns="58979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pic>
        <p:nvPicPr>
          <p:cNvPr id="23" name="图形 22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7220" y="4648200"/>
            <a:ext cx="304800" cy="304800"/>
          </a:xfrm>
          <a:prstGeom prst="rect">
            <a:avLst/>
          </a:prstGeom>
        </p:spPr>
      </p:pic>
      <p:pic>
        <p:nvPicPr>
          <p:cNvPr id="22" name="picture 6"/>
          <p:cNvPicPr/>
          <p:nvPr/>
        </p:nvPicPr>
        <p:blipFill>
          <a:blip r:embed="rId27"/>
          <a:stretch>
            <a:fillRect/>
          </a:stretch>
        </p:blipFill>
        <p:spPr>
          <a:xfrm rot="21600000">
            <a:off x="746125" y="1321435"/>
            <a:ext cx="3220720" cy="478155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THUMBS_INDEX" val="1、4、7、8、10、11、12、13、15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5.xml><?xml version="1.0" encoding="utf-8"?>
<p:tagLst xmlns:p="http://schemas.openxmlformats.org/presentationml/2006/main">
  <p:tag name="PA" val="v5.2.11"/>
</p:tagLst>
</file>

<file path=ppt/tags/tag6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7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8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9.xml><?xml version="1.0" encoding="utf-8"?>
<p:tagLst xmlns:p="http://schemas.openxmlformats.org/presentationml/2006/main">
  <p:tag name="PA" val="v5.2.11"/>
</p:tagLst>
</file>

<file path=ppt/tags/tag10.xml><?xml version="1.0" encoding="utf-8"?>
<p:tagLst xmlns:p="http://schemas.openxmlformats.org/presentationml/2006/main">
  <p:tag name="PA" val="v5.2.11"/>
</p:tagLst>
</file>

<file path=ppt/tags/tag11.xml><?xml version="1.0" encoding="utf-8"?>
<p:tagLst xmlns:p="http://schemas.openxmlformats.org/presentationml/2006/main">
  <p:tag name="PA" val="v5.2.11"/>
</p:tagLst>
</file>

<file path=ppt/tags/tag12.xml><?xml version="1.0" encoding="utf-8"?>
<p:tagLst xmlns:p="http://schemas.openxmlformats.org/presentationml/2006/main">
  <p:tag name="PA" val="v5.2.11"/>
</p:tagLst>
</file>

<file path=ppt/tags/tag13.xml><?xml version="1.0" encoding="utf-8"?>
<p:tagLst xmlns:p="http://schemas.openxmlformats.org/presentationml/2006/main">
  <p:tag name="PA" val="v5.2.11"/>
</p:tagLst>
</file>

<file path=ppt/tags/tag14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5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6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7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8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9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0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1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2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3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4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5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6.xml><?xml version="1.0" encoding="utf-8"?>
<p:tagLst xmlns:p="http://schemas.openxmlformats.org/presentationml/2006/main">
  <p:tag name="KSO_WM_DIAGRAM_VIRTUALLY_FRAME" val="{&quot;height&quot;:241.48511811023627,&quot;left&quot;:67.46070866141733,&quot;top&quot;:143.3840157480315,&quot;width&quot;:588.9255118110236}"/>
</p:tagLst>
</file>

<file path=ppt/tags/tag27.xml><?xml version="1.0" encoding="utf-8"?>
<p:tagLst xmlns:p="http://schemas.openxmlformats.org/presentationml/2006/main">
  <p:tag name="KSO_WM_DIAGRAM_VIRTUALLY_FRAME" val="{&quot;height&quot;:241.48511811023627,&quot;left&quot;:67.46070866141733,&quot;top&quot;:143.3840157480315,&quot;width&quot;:588.9255118110236}"/>
</p:tagLst>
</file>

<file path=ppt/tags/tag28.xml><?xml version="1.0" encoding="utf-8"?>
<p:tagLst xmlns:p="http://schemas.openxmlformats.org/presentationml/2006/main">
  <p:tag name="KSO_WM_DIAGRAM_VIRTUALLY_FRAME" val="{&quot;height&quot;:241.48511811023627,&quot;left&quot;:67.46070866141733,&quot;top&quot;:143.3840157480315,&quot;width&quot;:588.9255118110236}"/>
</p:tagLst>
</file>

<file path=ppt/tags/tag29.xml><?xml version="1.0" encoding="utf-8"?>
<p:tagLst xmlns:p="http://schemas.openxmlformats.org/presentationml/2006/main">
  <p:tag name="KSO_WM_DIAGRAM_VIRTUALLY_FRAME" val="{&quot;height&quot;:241.48511811023627,&quot;left&quot;:67.46070866141733,&quot;top&quot;:143.3840157480315,&quot;width&quot;:588.9255118110236}"/>
</p:tagLst>
</file>

<file path=ppt/tags/tag30.xml><?xml version="1.0" encoding="utf-8"?>
<p:tagLst xmlns:p="http://schemas.openxmlformats.org/presentationml/2006/main">
  <p:tag name="PA" val="v5.2.11"/>
</p:tagLst>
</file>

<file path=ppt/tags/tag31.xml><?xml version="1.0" encoding="utf-8"?>
<p:tagLst xmlns:p="http://schemas.openxmlformats.org/presentationml/2006/main">
  <p:tag name="PA" val="v5.2.11"/>
</p:tagLst>
</file>

<file path=ppt/tags/tag32.xml><?xml version="1.0" encoding="utf-8"?>
<p:tagLst xmlns:p="http://schemas.openxmlformats.org/presentationml/2006/main">
  <p:tag name="PA" val="v5.2.11"/>
</p:tagLst>
</file>

<file path=ppt/tags/tag33.xml><?xml version="1.0" encoding="utf-8"?>
<p:tagLst xmlns:p="http://schemas.openxmlformats.org/presentationml/2006/main">
  <p:tag name="PA" val="v5.2.11"/>
</p:tagLst>
</file>

<file path=ppt/tags/tag34.xml><?xml version="1.0" encoding="utf-8"?>
<p:tagLst xmlns:p="http://schemas.openxmlformats.org/presentationml/2006/main">
  <p:tag name="PA" val="v5.2.11"/>
</p:tagLst>
</file>

<file path=ppt/tags/tag35.xml><?xml version="1.0" encoding="utf-8"?>
<p:tagLst xmlns:p="http://schemas.openxmlformats.org/presentationml/2006/main">
  <p:tag name="PA" val="v5.2.11"/>
</p:tagLst>
</file>

<file path=ppt/tags/tag36.xml><?xml version="1.0" encoding="utf-8"?>
<p:tagLst xmlns:p="http://schemas.openxmlformats.org/presentationml/2006/main">
  <p:tag name="PA" val="v5.2.11"/>
</p:tagLst>
</file>

<file path=ppt/tags/tag37.xml><?xml version="1.0" encoding="utf-8"?>
<p:tagLst xmlns:p="http://schemas.openxmlformats.org/presentationml/2006/main">
  <p:tag name="PA" val="v5.2.11"/>
</p:tagLst>
</file>

<file path=ppt/tags/tag38.xml><?xml version="1.0" encoding="utf-8"?>
<p:tagLst xmlns:p="http://schemas.openxmlformats.org/presentationml/2006/main">
  <p:tag name="PA" val="v5.2.11"/>
</p:tagLst>
</file>

<file path=ppt/tags/tag39.xml><?xml version="1.0" encoding="utf-8"?>
<p:tagLst xmlns:p="http://schemas.openxmlformats.org/presentationml/2006/main">
  <p:tag name="PA" val="v5.2.11"/>
</p:tagLst>
</file>

<file path=ppt/tags/tag40.xml><?xml version="1.0" encoding="utf-8"?>
<p:tagLst xmlns:p="http://schemas.openxmlformats.org/presentationml/2006/main">
  <p:tag name="PA" val="v5.2.11"/>
</p:tagLst>
</file>

<file path=ppt/tags/tag41.xml><?xml version="1.0" encoding="utf-8"?>
<p:tagLst xmlns:p="http://schemas.openxmlformats.org/presentationml/2006/main">
  <p:tag name="KSO_WM_DIAGRAM_VIRTUALLY_FRAME" val="{&quot;height&quot;:354.35,&quot;left&quot;:321.75,&quot;top&quot;:121.9,&quot;width&quot;:638.25}"/>
</p:tagLst>
</file>

<file path=ppt/tags/tag42.xml><?xml version="1.0" encoding="utf-8"?>
<p:tagLst xmlns:p="http://schemas.openxmlformats.org/presentationml/2006/main">
  <p:tag name="KSO_WM_DIAGRAM_VIRTUALLY_FRAME" val="{&quot;height&quot;:354.35,&quot;left&quot;:321.75,&quot;top&quot;:121.9,&quot;width&quot;:638.25}"/>
</p:tagLst>
</file>

<file path=ppt/tags/tag43.xml><?xml version="1.0" encoding="utf-8"?>
<p:tagLst xmlns:p="http://schemas.openxmlformats.org/presentationml/2006/main">
  <p:tag name="KSO_WM_DIAGRAM_VIRTUALLY_FRAME" val="{&quot;height&quot;:354.35,&quot;left&quot;:321.75,&quot;top&quot;:121.9,&quot;width&quot;:638.25}"/>
</p:tagLst>
</file>

<file path=ppt/tags/tag44.xml><?xml version="1.0" encoding="utf-8"?>
<p:tagLst xmlns:p="http://schemas.openxmlformats.org/presentationml/2006/main">
  <p:tag name="KSO_WM_DIAGRAM_VIRTUALLY_FRAME" val="{&quot;height&quot;:407.2,&quot;left&quot;:25.512519685039372,&quot;top&quot;:128.25,&quot;width&quot;:724.4374803149606}"/>
</p:tagLst>
</file>

<file path=ppt/tags/tag45.xml><?xml version="1.0" encoding="utf-8"?>
<p:tagLst xmlns:p="http://schemas.openxmlformats.org/presentationml/2006/main">
  <p:tag name="KSO_WM_DIAGRAM_VIRTUALLY_FRAME" val="{&quot;height&quot;:354.35,&quot;left&quot;:321.75,&quot;top&quot;:121.9,&quot;width&quot;:638.25}"/>
</p:tagLst>
</file>

<file path=ppt/tags/tag46.xml><?xml version="1.0" encoding="utf-8"?>
<p:tagLst xmlns:p="http://schemas.openxmlformats.org/presentationml/2006/main">
  <p:tag name="PA" val="v5.2.11"/>
</p:tagLst>
</file>

<file path=ppt/tags/tag47.xml><?xml version="1.0" encoding="utf-8"?>
<p:tagLst xmlns:p="http://schemas.openxmlformats.org/presentationml/2006/main">
  <p:tag name="PA" val="v5.2.11"/>
</p:tagLst>
</file>

<file path=ppt/tags/tag48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49.xml><?xml version="1.0" encoding="utf-8"?>
<p:tagLst xmlns:p="http://schemas.openxmlformats.org/presentationml/2006/main">
  <p:tag name="PA" val="v5.2.11"/>
</p:tagLst>
</file>

<file path=ppt/tags/tag50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51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52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53.xml><?xml version="1.0" encoding="utf-8"?>
<p:tagLst xmlns:p="http://schemas.openxmlformats.org/presentationml/2006/main">
  <p:tag name="KSO_WM_AICARD_INVALID" val="Invalid"/>
</p:tagLst>
</file>

<file path=ppt/tags/tag54.xml><?xml version="1.0" encoding="utf-8"?>
<p:tagLst xmlns:p="http://schemas.openxmlformats.org/presentationml/2006/main">
  <p:tag name="PA" val="v5.2.11"/>
</p:tagLst>
</file>

<file path=ppt/tags/tag55.xml><?xml version="1.0" encoding="utf-8"?>
<p:tagLst xmlns:p="http://schemas.openxmlformats.org/presentationml/2006/main">
  <p:tag name="PA" val="v5.2.11"/>
</p:tagLst>
</file>

<file path=ppt/tags/tag56.xml><?xml version="1.0" encoding="utf-8"?>
<p:tagLst xmlns:p="http://schemas.openxmlformats.org/presentationml/2006/main">
  <p:tag name="PA" val="v5.2.11"/>
</p:tagLst>
</file>

<file path=ppt/tags/tag57.xml><?xml version="1.0" encoding="utf-8"?>
<p:tagLst xmlns:p="http://schemas.openxmlformats.org/presentationml/2006/main">
  <p:tag name="KSO_WM_AICARD_INVALID" val="Invalid"/>
  <p:tag name="RESOURCE_RECORD_KEY" val="{&quot;29&quot;:[50053024]}"/>
</p:tagLst>
</file>

<file path=ppt/tags/tag58.xml><?xml version="1.0" encoding="utf-8"?>
<p:tagLst xmlns:p="http://schemas.openxmlformats.org/presentationml/2006/main">
  <p:tag name="PA" val="v5.2.11"/>
</p:tagLst>
</file>

<file path=ppt/tags/tag59.xml><?xml version="1.0" encoding="utf-8"?>
<p:tagLst xmlns:p="http://schemas.openxmlformats.org/presentationml/2006/main">
  <p:tag name="PA" val="v5.2.11"/>
</p:tagLst>
</file>

<file path=ppt/tags/tag60.xml><?xml version="1.0" encoding="utf-8"?>
<p:tagLst xmlns:p="http://schemas.openxmlformats.org/presentationml/2006/main">
  <p:tag name="TABLE_ENDDRAG_ORIGIN_RECT" val="859*231"/>
  <p:tag name="TABLE_ENDDRAG_RECT" val="59*110*859*231"/>
</p:tagLst>
</file>

<file path=ppt/tags/tag61.xml><?xml version="1.0" encoding="utf-8"?>
<p:tagLst xmlns:p="http://schemas.openxmlformats.org/presentationml/2006/main">
  <p:tag name="KSO_WM_AICARD_INVALID" val="Invalid"/>
</p:tagLst>
</file>

<file path=ppt/tags/tag62.xml><?xml version="1.0" encoding="utf-8"?>
<p:tagLst xmlns:p="http://schemas.openxmlformats.org/presentationml/2006/main">
  <p:tag name="PA" val="v5.2.11"/>
</p:tagLst>
</file>

<file path=ppt/tags/tag63.xml><?xml version="1.0" encoding="utf-8"?>
<p:tagLst xmlns:p="http://schemas.openxmlformats.org/presentationml/2006/main">
  <p:tag name="PA" val="v5.2.11"/>
</p:tagLst>
</file>

<file path=ppt/tags/tag64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5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6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7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8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9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70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71.xml><?xml version="1.0" encoding="utf-8"?>
<p:tagLst xmlns:p="http://schemas.openxmlformats.org/presentationml/2006/main">
  <p:tag name="KSO_WM_DIAGRAM_VIRTUALLY_FRAME" val="{&quot;height&quot;:356.7078740157481,&quot;left&quot;:71.23787401574802,&quot;top&quot;:109.46196850393702,&quot;width&quot;:843.2458267716535}"/>
</p:tagLst>
</file>

<file path=ppt/tags/tag72.xml><?xml version="1.0" encoding="utf-8"?>
<p:tagLst xmlns:p="http://schemas.openxmlformats.org/presentationml/2006/main">
  <p:tag name="KSO_WM_DIAGRAM_VIRTUALLY_FRAME" val="{&quot;height&quot;:420.75,&quot;left&quot;:25.5,&quot;top&quot;:88.6,&quot;width&quot;:722.85}"/>
</p:tagLst>
</file>

<file path=ppt/tags/tag73.xml><?xml version="1.0" encoding="utf-8"?>
<p:tagLst xmlns:p="http://schemas.openxmlformats.org/presentationml/2006/main">
  <p:tag name="KSO_WM_DIAGRAM_VIRTUALLY_FRAME" val="{&quot;height&quot;:420.75,&quot;left&quot;:25.5,&quot;top&quot;:88.6,&quot;width&quot;:722.85}"/>
</p:tagLst>
</file>

<file path=ppt/tags/tag74.xml><?xml version="1.0" encoding="utf-8"?>
<p:tagLst xmlns:p="http://schemas.openxmlformats.org/presentationml/2006/main">
  <p:tag name="TABLE_ENDDRAG_ORIGIN_RECT" val="299*61"/>
  <p:tag name="TABLE_ENDDRAG_RECT" val="56*202*299*61"/>
  <p:tag name="KSO_WM_UNIT_TABLE_BEAUTIFY" val="smartTable{22a63850-347f-4f1b-b091-b0873b0929a6}"/>
</p:tagLst>
</file>

<file path=ppt/tags/tag75.xml><?xml version="1.0" encoding="utf-8"?>
<p:tagLst xmlns:p="http://schemas.openxmlformats.org/presentationml/2006/main">
  <p:tag name="KSO_WM_AICARD_INVALID" val="Invalid"/>
</p:tagLst>
</file>

<file path=ppt/tags/tag76.xml><?xml version="1.0" encoding="utf-8"?>
<p:tagLst xmlns:p="http://schemas.openxmlformats.org/presentationml/2006/main">
  <p:tag name="PA" val="v5.2.11"/>
</p:tagLst>
</file>

<file path=ppt/tags/tag77.xml><?xml version="1.0" encoding="utf-8"?>
<p:tagLst xmlns:p="http://schemas.openxmlformats.org/presentationml/2006/main">
  <p:tag name="PA" val="v5.2.11"/>
</p:tagLst>
</file>

<file path=ppt/tags/tag78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79.xml><?xml version="1.0" encoding="utf-8"?>
<p:tagLst xmlns:p="http://schemas.openxmlformats.org/presentationml/2006/main">
  <p:tag name="PA" val="v5.2.11"/>
</p:tagLst>
</file>

<file path=ppt/tags/tag80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81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82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83.xml><?xml version="1.0" encoding="utf-8"?>
<p:tagLst xmlns:p="http://schemas.openxmlformats.org/presentationml/2006/main">
  <p:tag name="KSO_WM_AICARD_INVALID" val="Invalid"/>
</p:tagLst>
</file>

<file path=ppt/tags/tag84.xml><?xml version="1.0" encoding="utf-8"?>
<p:tagLst xmlns:p="http://schemas.openxmlformats.org/presentationml/2006/main">
  <p:tag name="PA" val="v5.2.11"/>
</p:tagLst>
</file>

<file path=ppt/tags/tag85.xml><?xml version="1.0" encoding="utf-8"?>
<p:tagLst xmlns:p="http://schemas.openxmlformats.org/presentationml/2006/main">
  <p:tag name="PA" val="v5.2.11"/>
</p:tagLst>
</file>

<file path=ppt/tags/tag86.xml><?xml version="1.0" encoding="utf-8"?>
<p:tagLst xmlns:p="http://schemas.openxmlformats.org/presentationml/2006/main">
  <p:tag name="TABLE_ENDDRAG_ORIGIN_RECT" val="846*73"/>
  <p:tag name="TABLE_ENDDRAG_RECT" val="52*413*846*73"/>
</p:tagLst>
</file>

<file path=ppt/tags/tag87.xml><?xml version="1.0" encoding="utf-8"?>
<p:tagLst xmlns:p="http://schemas.openxmlformats.org/presentationml/2006/main">
  <p:tag name="TABLE_ENDDRAG_ORIGIN_RECT" val="854*86"/>
  <p:tag name="TABLE_ENDDRAG_RECT" val="56*266*854*86"/>
</p:tagLst>
</file>

<file path=ppt/tags/tag88.xml><?xml version="1.0" encoding="utf-8"?>
<p:tagLst xmlns:p="http://schemas.openxmlformats.org/presentationml/2006/main">
  <p:tag name="KSO_WM_AICARD_INVALID" val="Invalid"/>
</p:tagLst>
</file>

<file path=ppt/tags/tag89.xml><?xml version="1.0" encoding="utf-8"?>
<p:tagLst xmlns:p="http://schemas.openxmlformats.org/presentationml/2006/main">
  <p:tag name="PA" val="v5.2.11"/>
</p:tagLst>
</file>

<file path=ppt/tags/tag90.xml><?xml version="1.0" encoding="utf-8"?>
<p:tagLst xmlns:p="http://schemas.openxmlformats.org/presentationml/2006/main">
  <p:tag name="PA" val="v5.2.11"/>
</p:tagLst>
</file>

<file path=ppt/tags/tag91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92.xml><?xml version="1.0" encoding="utf-8"?>
<p:tagLst xmlns:p="http://schemas.openxmlformats.org/presentationml/2006/main">
  <p:tag name="PA" val="v5.2.11"/>
</p:tagLst>
</file>

<file path=ppt/tags/tag93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94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95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96.xml><?xml version="1.0" encoding="utf-8"?>
<p:tagLst xmlns:p="http://schemas.openxmlformats.org/presentationml/2006/main">
  <p:tag name="KSO_WM_AICARD_INVALID" val="Invalid"/>
</p:tagLst>
</file>

<file path=ppt/tags/tag97.xml><?xml version="1.0" encoding="utf-8"?>
<p:tagLst xmlns:p="http://schemas.openxmlformats.org/presentationml/2006/main">
  <p:tag name="PA" val="v5.2.11"/>
</p:tagLst>
</file>

<file path=ppt/tags/tag98.xml><?xml version="1.0" encoding="utf-8"?>
<p:tagLst xmlns:p="http://schemas.openxmlformats.org/presentationml/2006/main">
  <p:tag name="PA" val="v5.2.11"/>
</p:tagLst>
</file>

<file path=ppt/tags/tag99.xml><?xml version="1.0" encoding="utf-8"?>
<p:tagLst xmlns:p="http://schemas.openxmlformats.org/presentationml/2006/main">
  <p:tag name="PA" val="v5.2.11"/>
</p:tagLst>
</file>

<file path=ppt/tags/tag100.xml><?xml version="1.0" encoding="utf-8"?>
<p:tagLst xmlns:p="http://schemas.openxmlformats.org/presentationml/2006/main">
  <p:tag name="PA" val="v5.2.11"/>
</p:tagLst>
</file>

<file path=ppt/tags/tag101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02.xml><?xml version="1.0" encoding="utf-8"?>
<p:tagLst xmlns:p="http://schemas.openxmlformats.org/presentationml/2006/main">
  <p:tag name="PA" val="v5.2.11"/>
</p:tagLst>
</file>

<file path=ppt/tags/tag103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104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05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06.xml><?xml version="1.0" encoding="utf-8"?>
<p:tagLst xmlns:p="http://schemas.openxmlformats.org/presentationml/2006/main">
  <p:tag name="PA" val="v5.2.11"/>
</p:tagLst>
</file>

<file path=ppt/tags/tag107.xml><?xml version="1.0" encoding="utf-8"?>
<p:tagLst xmlns:p="http://schemas.openxmlformats.org/presentationml/2006/main">
  <p:tag name="PA" val="v5.2.11"/>
</p:tagLst>
</file>

<file path=ppt/tags/tag108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09.xml><?xml version="1.0" encoding="utf-8"?>
<p:tagLst xmlns:p="http://schemas.openxmlformats.org/presentationml/2006/main">
  <p:tag name="KSO_WM_DIAGRAM_VIRTUALLY_FRAME" val="{&quot;height&quot;:276.6,&quot;left&quot;:24.7,&quot;top&quot;:179.3,&quot;width&quot;:425.4}"/>
</p:tagLst>
</file>

<file path=ppt/tags/tag110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1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2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3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4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5.xml><?xml version="1.0" encoding="utf-8"?>
<p:tagLst xmlns:p="http://schemas.openxmlformats.org/presentationml/2006/main">
  <p:tag name="KSO_WM_DIAGRAM_VIRTUALLY_FRAME" val="{&quot;height&quot;:282.3,&quot;left&quot;:24.7,&quot;top&quot;:173.6,&quot;width&quot;:425.4}"/>
</p:tagLst>
</file>

<file path=ppt/tags/tag116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7.xml><?xml version="1.0" encoding="utf-8"?>
<p:tagLst xmlns:p="http://schemas.openxmlformats.org/presentationml/2006/main">
  <p:tag name="KSO_WM_DIAGRAM_VIRTUALLY_FRAME" val="{&quot;height&quot;:282.3,&quot;left&quot;:24.7,&quot;top&quot;:173.6,&quot;width&quot;:425.4}"/>
</p:tagLst>
</file>

<file path=ppt/tags/tag118.xml><?xml version="1.0" encoding="utf-8"?>
<p:tagLst xmlns:p="http://schemas.openxmlformats.org/presentationml/2006/main">
  <p:tag name="KSO_WM_DIAGRAM_VIRTUALLY_FRAME" val="{&quot;height&quot;:282.3,&quot;left&quot;:24.7,&quot;top&quot;:173.6,&quot;width&quot;:425.4}"/>
</p:tagLst>
</file>

<file path=ppt/tags/tag119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0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1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2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3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4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5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6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7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8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9.xml><?xml version="1.0" encoding="utf-8"?>
<p:tagLst xmlns:p="http://schemas.openxmlformats.org/presentationml/2006/main">
  <p:tag name="PA" val="v5.2.11"/>
</p:tagLst>
</file>

<file path=ppt/tags/tag130.xml><?xml version="1.0" encoding="utf-8"?>
<p:tagLst xmlns:p="http://schemas.openxmlformats.org/presentationml/2006/main">
  <p:tag name="PA" val="v5.2.11"/>
</p:tagLst>
</file>

<file path=ppt/tags/tag131.xml><?xml version="1.0" encoding="utf-8"?>
<p:tagLst xmlns:p="http://schemas.openxmlformats.org/presentationml/2006/main">
  <p:tag name="TABLE_ENDDRAG_ORIGIN_RECT" val="654*436"/>
  <p:tag name="TABLE_ENDDRAG_RECT" val="148*86*654*436"/>
</p:tagLst>
</file>

<file path=ppt/tags/tag132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205209592&quot;}"/>
</p:tagLst>
</file>

<file path=ppt/tags/tag133.xml><?xml version="1.0" encoding="utf-8"?>
<p:tagLst xmlns:p="http://schemas.openxmlformats.org/presentationml/2006/main">
  <p:tag name="PA" val="v5.2.11"/>
</p:tagLst>
</file>

<file path=ppt/tags/tag134.xml><?xml version="1.0" encoding="utf-8"?>
<p:tagLst xmlns:p="http://schemas.openxmlformats.org/presentationml/2006/main">
  <p:tag name="PA" val="v5.2.11"/>
</p:tagLst>
</file>

<file path=ppt/tags/tag135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36.xml><?xml version="1.0" encoding="utf-8"?>
<p:tagLst xmlns:p="http://schemas.openxmlformats.org/presentationml/2006/main">
  <p:tag name="PA" val="v5.2.11"/>
</p:tagLst>
</file>

<file path=ppt/tags/tag137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138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39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40.xml><?xml version="1.0" encoding="utf-8"?>
<p:tagLst xmlns:p="http://schemas.openxmlformats.org/presentationml/2006/main">
  <p:tag name="PA" val="v5.2.11"/>
</p:tagLst>
</file>

<file path=ppt/tags/tag141.xml><?xml version="1.0" encoding="utf-8"?>
<p:tagLst xmlns:p="http://schemas.openxmlformats.org/presentationml/2006/main">
  <p:tag name="PA" val="v5.2.11"/>
</p:tagLst>
</file>

<file path=ppt/tags/tag142.xml><?xml version="1.0" encoding="utf-8"?>
<p:tagLst xmlns:p="http://schemas.openxmlformats.org/presentationml/2006/main">
  <p:tag name="TABLE_ENDDRAG_ORIGIN_RECT" val="882*112"/>
  <p:tag name="TABLE_ENDDRAG_RECT" val="41*289*882*112"/>
</p:tagLst>
</file>

<file path=ppt/tags/tag143.xml><?xml version="1.0" encoding="utf-8"?>
<p:tagLst xmlns:p="http://schemas.openxmlformats.org/presentationml/2006/main">
  <p:tag name="PA" val="v5.2.11"/>
</p:tagLst>
</file>

<file path=ppt/tags/tag144.xml><?xml version="1.0" encoding="utf-8"?>
<p:tagLst xmlns:p="http://schemas.openxmlformats.org/presentationml/2006/main">
  <p:tag name="PA" val="v5.2.11"/>
</p:tagLst>
</file>

<file path=ppt/tags/tag145.xml><?xml version="1.0" encoding="utf-8"?>
<p:tagLst xmlns:p="http://schemas.openxmlformats.org/presentationml/2006/main">
  <p:tag name="PA" val="v5.2.11"/>
</p:tagLst>
</file>

<file path=ppt/tags/tag146.xml><?xml version="1.0" encoding="utf-8"?>
<p:tagLst xmlns:p="http://schemas.openxmlformats.org/presentationml/2006/main">
  <p:tag name="PA" val="v5.2.11"/>
</p:tagLst>
</file>

<file path=ppt/tags/tag147.xml><?xml version="1.0" encoding="utf-8"?>
<p:tagLst xmlns:p="http://schemas.openxmlformats.org/presentationml/2006/main">
  <p:tag name="PA" val="v5.2.11"/>
</p:tagLst>
</file>

<file path=ppt/tags/tag148.xml><?xml version="1.0" encoding="utf-8"?>
<p:tagLst xmlns:p="http://schemas.openxmlformats.org/presentationml/2006/main">
  <p:tag name="PA" val="v5.2.11"/>
</p:tagLst>
</file>

<file path=ppt/tags/tag149.xml><?xml version="1.0" encoding="utf-8"?>
<p:tagLst xmlns:p="http://schemas.openxmlformats.org/presentationml/2006/main">
  <p:tag name="PA" val="v5.2.11"/>
</p:tagLst>
</file>

<file path=ppt/tags/tag150.xml><?xml version="1.0" encoding="utf-8"?>
<p:tagLst xmlns:p="http://schemas.openxmlformats.org/presentationml/2006/main">
  <p:tag name="PA" val="v5.2.11"/>
</p:tagLst>
</file>

<file path=ppt/tags/tag151.xml><?xml version="1.0" encoding="utf-8"?>
<p:tagLst xmlns:p="http://schemas.openxmlformats.org/presentationml/2006/main">
  <p:tag name="PA" val="v5.2.11"/>
</p:tagLst>
</file>

<file path=ppt/tags/tag152.xml><?xml version="1.0" encoding="utf-8"?>
<p:tagLst xmlns:p="http://schemas.openxmlformats.org/presentationml/2006/main">
  <p:tag name="PA" val="v5.2.11"/>
</p:tagLst>
</file>

<file path=ppt/tags/tag153.xml><?xml version="1.0" encoding="utf-8"?>
<p:tagLst xmlns:p="http://schemas.openxmlformats.org/presentationml/2006/main">
  <p:tag name="PA" val="v5.2.11"/>
</p:tagLst>
</file>

<file path=ppt/tags/tag154.xml><?xml version="1.0" encoding="utf-8"?>
<p:tagLst xmlns:p="http://schemas.openxmlformats.org/presentationml/2006/main">
  <p:tag name="PA" val="v5.2.11"/>
</p:tagLst>
</file>

<file path=ppt/tags/tag155.xml><?xml version="1.0" encoding="utf-8"?>
<p:tagLst xmlns:p="http://schemas.openxmlformats.org/presentationml/2006/main">
  <p:tag name="PA" val="v5.2.11"/>
</p:tagLst>
</file>

<file path=ppt/tags/tag156.xml><?xml version="1.0" encoding="utf-8"?>
<p:tagLst xmlns:p="http://schemas.openxmlformats.org/presentationml/2006/main">
  <p:tag name="PA" val="v5.2.11"/>
</p:tagLst>
</file>

<file path=ppt/tags/tag157.xml><?xml version="1.0" encoding="utf-8"?>
<p:tagLst xmlns:p="http://schemas.openxmlformats.org/presentationml/2006/main">
  <p:tag name="PA" val="v5.2.11"/>
</p:tagLst>
</file>

<file path=ppt/tags/tag158.xml><?xml version="1.0" encoding="utf-8"?>
<p:tagLst xmlns:p="http://schemas.openxmlformats.org/presentationml/2006/main">
  <p:tag name="PA" val="v5.2.11"/>
</p:tagLst>
</file>

<file path=ppt/tags/tag159.xml><?xml version="1.0" encoding="utf-8"?>
<p:tagLst xmlns:p="http://schemas.openxmlformats.org/presentationml/2006/main">
  <p:tag name="PA" val="v5.2.11"/>
</p:tagLst>
</file>

<file path=ppt/tags/tag160.xml><?xml version="1.0" encoding="utf-8"?>
<p:tagLst xmlns:p="http://schemas.openxmlformats.org/presentationml/2006/main">
  <p:tag name="KSO_WM_DIAGRAM_VIRTUALLY_FRAME" val="{&quot;height&quot;:180.63015748031498,&quot;left&quot;:74.92929133858267,&quot;top&quot;:281.55818897637795,&quot;width&quot;:833.2414960629922}"/>
  <p:tag name="PA" val="v5.2.11"/>
</p:tagLst>
</file>

<file path=ppt/tags/tag161.xml><?xml version="1.0" encoding="utf-8"?>
<p:tagLst xmlns:p="http://schemas.openxmlformats.org/presentationml/2006/main">
  <p:tag name="KSO_WM_DIAGRAM_VIRTUALLY_FRAME" val="{&quot;height&quot;:180.63015748031498,&quot;left&quot;:74.92929133858267,&quot;top&quot;:281.55818897637795,&quot;width&quot;:833.2414960629922}"/>
  <p:tag name="PA" val="v5.2.11"/>
</p:tagLst>
</file>

<file path=ppt/tags/tag162.xml><?xml version="1.0" encoding="utf-8"?>
<p:tagLst xmlns:p="http://schemas.openxmlformats.org/presentationml/2006/main">
  <p:tag name="PA" val="v5.2.11"/>
</p:tagLst>
</file>

<file path=ppt/tags/tag163.xml><?xml version="1.0" encoding="utf-8"?>
<p:tagLst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THUMBS_INDEX" val="1、4、7、8、10、11、12、13、15"/>
</p:tagLst>
</file>

<file path=ppt/tags/tag164.xml><?xml version="1.0" encoding="utf-8"?>
<p:tagLst xmlns:p="http://schemas.openxmlformats.org/presentationml/2006/main">
  <p:tag name="RESOURCE_RECORD_KEY" val="{&quot;29&quot;:[50000199,50000031,50053024,50000047],&quot;65&quot;:[20231218]}"/>
</p:tagLst>
</file>

<file path=ppt/theme/theme1.xml><?xml version="1.0" encoding="utf-8"?>
<a:theme xmlns:a="http://schemas.openxmlformats.org/drawingml/2006/main" name="WPS">
  <a:themeElements>
    <a:clrScheme name="珊瑚红-企业PPT">
      <a:dk1>
        <a:sysClr val="windowText" lastClr="000000"/>
      </a:dk1>
      <a:lt1>
        <a:sysClr val="window" lastClr="FFFFFF"/>
      </a:lt1>
      <a:dk2>
        <a:srgbClr val="171616"/>
      </a:dk2>
      <a:lt2>
        <a:srgbClr val="FFFFFF"/>
      </a:lt2>
      <a:accent1>
        <a:srgbClr val="BA2519"/>
      </a:accent1>
      <a:accent2>
        <a:srgbClr val="8A1C15"/>
      </a:accent2>
      <a:accent3>
        <a:srgbClr val="BA2519"/>
      </a:accent3>
      <a:accent4>
        <a:srgbClr val="0061FF"/>
      </a:accent4>
      <a:accent5>
        <a:srgbClr val="0563C1"/>
      </a:accent5>
      <a:accent6>
        <a:srgbClr val="0563C1"/>
      </a:accent6>
      <a:hlink>
        <a:srgbClr val="0563C1"/>
      </a:hlink>
      <a:folHlink>
        <a:srgbClr val="954F72"/>
      </a:folHlink>
    </a:clrScheme>
    <a:fontScheme name="常规oppo">
      <a:majorFont>
        <a:latin typeface="Arial"/>
        <a:ea typeface="OPPOSans B"/>
        <a:cs typeface=""/>
      </a:majorFont>
      <a:minorFont>
        <a:latin typeface="Arial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珊瑚红-企业PPT">
      <a:dk1>
        <a:sysClr val="windowText" lastClr="000000"/>
      </a:dk1>
      <a:lt1>
        <a:sysClr val="window" lastClr="FFFFFF"/>
      </a:lt1>
      <a:dk2>
        <a:srgbClr val="171616"/>
      </a:dk2>
      <a:lt2>
        <a:srgbClr val="FFFFFF"/>
      </a:lt2>
      <a:accent1>
        <a:srgbClr val="BA2519"/>
      </a:accent1>
      <a:accent2>
        <a:srgbClr val="8A1C15"/>
      </a:accent2>
      <a:accent3>
        <a:srgbClr val="BA2519"/>
      </a:accent3>
      <a:accent4>
        <a:srgbClr val="0061FF"/>
      </a:accent4>
      <a:accent5>
        <a:srgbClr val="0563C1"/>
      </a:accent5>
      <a:accent6>
        <a:srgbClr val="0563C1"/>
      </a:accent6>
      <a:hlink>
        <a:srgbClr val="0563C1"/>
      </a:hlink>
      <a:folHlink>
        <a:srgbClr val="954F72"/>
      </a:folHlink>
    </a:clrScheme>
    <a:fontScheme name="0a9de023-a522-4395-a9ab-f8167a979ef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BA2519"/>
          </a:solidFill>
          <a:prstDash val="dash"/>
          <a:miter lim="800000"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OPPOSans M" panose="00020600040101010101" charset="-122"/>
            <a:ea typeface="OPPOSans M" panose="00020600040101010101" charset="-122"/>
            <a:cs typeface="+mn-cs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WPS">
  <a:themeElements>
    <a:clrScheme name="企业介绍蓝色">
      <a:dk1>
        <a:sysClr val="windowText" lastClr="000000"/>
      </a:dk1>
      <a:lt1>
        <a:sysClr val="window" lastClr="FFFFFF"/>
      </a:lt1>
      <a:dk2>
        <a:srgbClr val="171616"/>
      </a:dk2>
      <a:lt2>
        <a:srgbClr val="FFFFFF"/>
      </a:lt2>
      <a:accent1>
        <a:srgbClr val="0563C1"/>
      </a:accent1>
      <a:accent2>
        <a:srgbClr val="0563C1"/>
      </a:accent2>
      <a:accent3>
        <a:srgbClr val="0563C1"/>
      </a:accent3>
      <a:accent4>
        <a:srgbClr val="0061FF"/>
      </a:accent4>
      <a:accent5>
        <a:srgbClr val="0563C1"/>
      </a:accent5>
      <a:accent6>
        <a:srgbClr val="0563C1"/>
      </a:accent6>
      <a:hlink>
        <a:srgbClr val="0563C1"/>
      </a:hlink>
      <a:folHlink>
        <a:srgbClr val="954F72"/>
      </a:folHlink>
    </a:clrScheme>
    <a:fontScheme name="常规oppo">
      <a:majorFont>
        <a:latin typeface="Arial Black"/>
        <a:ea typeface="OPPOSans B"/>
        <a:cs typeface=""/>
      </a:majorFont>
      <a:minorFont>
        <a:latin typeface="Arial"/>
        <a:ea typeface="OPPOSans 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9378</Words>
  <Application>WPS 演示</Application>
  <PresentationFormat>宽屏</PresentationFormat>
  <Paragraphs>1168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53" baseType="lpstr">
      <vt:lpstr>Arial</vt:lpstr>
      <vt:lpstr>宋体</vt:lpstr>
      <vt:lpstr>Wingdings</vt:lpstr>
      <vt:lpstr>OPPOSans M</vt:lpstr>
      <vt:lpstr>JLR Emeric ExtraLight</vt:lpstr>
      <vt:lpstr>DejaVu Math TeX Gyre</vt:lpstr>
      <vt:lpstr>JLR Emeric ExtraLight</vt:lpstr>
      <vt:lpstr>Segoe Print</vt:lpstr>
      <vt:lpstr>微软雅黑</vt:lpstr>
      <vt:lpstr>OPPOSans R</vt:lpstr>
      <vt:lpstr>Alibaba PuHuiTi</vt:lpstr>
      <vt:lpstr>Arial</vt:lpstr>
      <vt:lpstr>Calibri</vt:lpstr>
      <vt:lpstr>OPPOSans M</vt:lpstr>
      <vt:lpstr>Arial Unicode MS</vt:lpstr>
      <vt:lpstr>OPPOSans B</vt:lpstr>
      <vt:lpstr>Arial Black</vt:lpstr>
      <vt:lpstr>Wingdings</vt:lpstr>
      <vt:lpstr>等线</vt:lpstr>
      <vt:lpstr>Calibri Light</vt:lpstr>
      <vt:lpstr>Aptos Narrow</vt:lpstr>
      <vt:lpstr>Segoe UI Variable Display</vt:lpstr>
      <vt:lpstr>Alibaba PuHuiTi</vt:lpstr>
      <vt:lpstr>Aptos Narrow</vt:lpstr>
      <vt:lpstr>仓耳玄三M W05</vt:lpstr>
      <vt:lpstr>MiSans ExtraLight</vt:lpstr>
      <vt:lpstr>Sitka Heading</vt:lpstr>
      <vt:lpstr>The best part</vt:lpstr>
      <vt:lpstr>Arial Narrow</vt:lpstr>
      <vt:lpstr>WPS</vt:lpstr>
      <vt:lpstr>1_WPS</vt:lpstr>
      <vt:lpstr>4_WPS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敏俊 豆</dc:creator>
  <cp:lastModifiedBy>微信用户</cp:lastModifiedBy>
  <cp:revision>223</cp:revision>
  <dcterms:created xsi:type="dcterms:W3CDTF">2026-02-24T01:07:00Z</dcterms:created>
  <dcterms:modified xsi:type="dcterms:W3CDTF">2026-07-09T05:53:02Z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C92178520E7E4545A405F531DF161B8B_13</vt:lpwstr>
  </property>
  <property fmtid="{D5CDD505-2E9C-101B-9397-08002B2CF9AE}" pid="3" name="KSOProductBuildVer">
    <vt:lpwstr>2052-12.1.0.24031</vt:lpwstr>
  </property>
</Properties>
</file>